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90C1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347472"/>
            <a:ext cx="5664707" cy="274320"/>
          </a:xfrm>
          <a:prstGeom prst="roundRect">
            <a:avLst/>
          </a:prstGeom>
          <a:solidFill>
            <a:srgbClr val="121C34"/>
          </a:solidFill>
          <a:ln w="12700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18288" bIns="18288"/>
          <a:lstStyle/>
          <a:p>
            <a:pPr algn="ctr"/>
            <a:r>
              <a:rPr sz="850" b="1">
                <a:solidFill>
                  <a:srgbClr val="38BDF8"/>
                </a:solidFill>
                <a:latin typeface="Arial"/>
              </a:rPr>
              <a:t>●  UNIVERSIDAD PRIVADA DOMINGO SAVIO // FACULTAD DE INGENIERÍA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601200" y="347472"/>
            <a:ext cx="1828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50" b="1">
                <a:solidFill>
                  <a:srgbClr val="64748B"/>
                </a:solidFill>
                <a:latin typeface="Consolas"/>
              </a:rPr>
              <a:t>SLIDE 01 / 14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676656"/>
            <a:ext cx="10698480" cy="438912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r>
              <a:rPr sz="2000" b="1">
                <a:solidFill>
                  <a:srgbClr val="FFFFFF"/>
                </a:solidFill>
                <a:latin typeface="Arial"/>
              </a:rPr>
              <a:t>Informe Práctico de Instalación y Hardening de un SGBD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133856"/>
            <a:ext cx="10698480" cy="292608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r>
              <a:rPr sz="1050">
                <a:solidFill>
                  <a:srgbClr val="94A3B8"/>
                </a:solidFill>
                <a:latin typeface="Arial"/>
              </a:rPr>
              <a:t>Actividad Académica II — Práctica de Laboratorio en PostgreSQL 16 sobre Ubuntu Server 24.04 LTS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572768"/>
            <a:ext cx="5943600" cy="4892040"/>
          </a:xfrm>
          <a:prstGeom prst="roundRect">
            <a:avLst/>
          </a:prstGeom>
          <a:solidFill>
            <a:srgbClr val="141C30"/>
          </a:solidFill>
          <a:ln w="19050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32688" y="1737360"/>
            <a:ext cx="5541264" cy="31546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</a:pPr>
            <a:r>
              <a:rPr sz="1200" b="1">
                <a:solidFill>
                  <a:srgbClr val="38BDF8"/>
                </a:solidFill>
                <a:latin typeface="Arial"/>
              </a:rPr>
              <a:t>🎓 Ficha Técnica de la Actividad Académica</a:t>
            </a:r>
          </a:p>
          <a:p>
            <a:pPr>
              <a:lnSpc>
                <a:spcPct val="115000"/>
              </a:lnSpc>
              <a:spcAft>
                <a:spcPts val="500"/>
              </a:spcAft>
            </a:pPr>
            <a:r>
              <a:rPr sz="900" b="1">
                <a:solidFill>
                  <a:srgbClr val="38BDF8"/>
                </a:solidFill>
                <a:latin typeface="Arial"/>
              </a:rPr>
              <a:t>•  </a:t>
            </a:r>
            <a:r>
              <a:rPr sz="900" b="1">
                <a:solidFill>
                  <a:srgbClr val="FFFFFF"/>
                </a:solidFill>
                <a:latin typeface="Arial"/>
              </a:rPr>
              <a:t>Institución:</a:t>
            </a:r>
            <a:r>
              <a:rPr sz="850">
                <a:solidFill>
                  <a:srgbClr val="94A3B8"/>
                </a:solidFill>
                <a:latin typeface="Arial"/>
              </a:rPr>
              <a:t> Universidad Privada Domingo Savio (UPDS) — Sede Santa Cruz de la Sierra.</a:t>
            </a:r>
          </a:p>
          <a:p>
            <a:pPr>
              <a:lnSpc>
                <a:spcPct val="115000"/>
              </a:lnSpc>
              <a:spcAft>
                <a:spcPts val="500"/>
              </a:spcAft>
            </a:pPr>
            <a:r>
              <a:rPr sz="900" b="1">
                <a:solidFill>
                  <a:srgbClr val="38BDF8"/>
                </a:solidFill>
                <a:latin typeface="Arial"/>
              </a:rPr>
              <a:t>•  </a:t>
            </a:r>
            <a:r>
              <a:rPr sz="900" b="1">
                <a:solidFill>
                  <a:srgbClr val="FFFFFF"/>
                </a:solidFill>
                <a:latin typeface="Arial"/>
              </a:rPr>
              <a:t>Autores de la Práctica:</a:t>
            </a:r>
            <a:r>
              <a:rPr sz="850">
                <a:solidFill>
                  <a:srgbClr val="94A3B8"/>
                </a:solidFill>
                <a:latin typeface="Arial"/>
              </a:rPr>
              <a:t> Adriana Rodríguez Sotelo y Gabriel Kevin Alcon Maydana.</a:t>
            </a:r>
          </a:p>
          <a:p>
            <a:pPr>
              <a:lnSpc>
                <a:spcPct val="115000"/>
              </a:lnSpc>
              <a:spcAft>
                <a:spcPts val="500"/>
              </a:spcAft>
            </a:pPr>
            <a:r>
              <a:rPr sz="900" b="1">
                <a:solidFill>
                  <a:srgbClr val="38BDF8"/>
                </a:solidFill>
                <a:latin typeface="Arial"/>
              </a:rPr>
              <a:t>•  </a:t>
            </a:r>
            <a:r>
              <a:rPr sz="900" b="1">
                <a:solidFill>
                  <a:srgbClr val="FFFFFF"/>
                </a:solidFill>
                <a:latin typeface="Arial"/>
              </a:rPr>
              <a:t>Carrera Profesional:</a:t>
            </a:r>
            <a:r>
              <a:rPr sz="850">
                <a:solidFill>
                  <a:srgbClr val="94A3B8"/>
                </a:solidFill>
                <a:latin typeface="Arial"/>
              </a:rPr>
              <a:t> Ingeniería en Sistemas.</a:t>
            </a:r>
          </a:p>
          <a:p>
            <a:pPr>
              <a:lnSpc>
                <a:spcPct val="115000"/>
              </a:lnSpc>
              <a:spcAft>
                <a:spcPts val="500"/>
              </a:spcAft>
            </a:pPr>
            <a:r>
              <a:rPr sz="900" b="1">
                <a:solidFill>
                  <a:srgbClr val="38BDF8"/>
                </a:solidFill>
                <a:latin typeface="Arial"/>
              </a:rPr>
              <a:t>•  </a:t>
            </a:r>
            <a:r>
              <a:rPr sz="900" b="1">
                <a:solidFill>
                  <a:srgbClr val="FFFFFF"/>
                </a:solidFill>
                <a:latin typeface="Arial"/>
              </a:rPr>
              <a:t>Docente de la Materia:</a:t>
            </a:r>
            <a:r>
              <a:rPr sz="850">
                <a:solidFill>
                  <a:srgbClr val="94A3B8"/>
                </a:solidFill>
                <a:latin typeface="Arial"/>
              </a:rPr>
              <a:t> Ing. Pablo Moscoso Zeballos.</a:t>
            </a:r>
          </a:p>
          <a:p>
            <a:pPr>
              <a:lnSpc>
                <a:spcPct val="115000"/>
              </a:lnSpc>
              <a:spcAft>
                <a:spcPts val="500"/>
              </a:spcAft>
            </a:pPr>
            <a:r>
              <a:rPr sz="900" b="1">
                <a:solidFill>
                  <a:srgbClr val="38BDF8"/>
                </a:solidFill>
                <a:latin typeface="Arial"/>
              </a:rPr>
              <a:t>•  </a:t>
            </a:r>
            <a:r>
              <a:rPr sz="900" b="1">
                <a:solidFill>
                  <a:srgbClr val="FFFFFF"/>
                </a:solidFill>
                <a:latin typeface="Arial"/>
              </a:rPr>
              <a:t>Autoridades Académicas:</a:t>
            </a:r>
            <a:r>
              <a:rPr sz="850">
                <a:solidFill>
                  <a:srgbClr val="94A3B8"/>
                </a:solidFill>
                <a:latin typeface="Arial"/>
              </a:rPr>
              <a:t> MSc. Wilmer Campos Saavedra (Decano) | MSc. José Antonio Landriel P. (Vicerrector).</a:t>
            </a:r>
          </a:p>
          <a:p>
            <a:pPr>
              <a:lnSpc>
                <a:spcPct val="115000"/>
              </a:lnSpc>
              <a:spcAft>
                <a:spcPts val="500"/>
              </a:spcAft>
            </a:pPr>
            <a:r>
              <a:rPr sz="900" b="1">
                <a:solidFill>
                  <a:srgbClr val="38BDF8"/>
                </a:solidFill>
                <a:latin typeface="Arial"/>
              </a:rPr>
              <a:t>•  </a:t>
            </a:r>
            <a:r>
              <a:rPr sz="900" b="1">
                <a:solidFill>
                  <a:srgbClr val="FFFFFF"/>
                </a:solidFill>
                <a:latin typeface="Arial"/>
              </a:rPr>
              <a:t>Fecha de Publicación:</a:t>
            </a:r>
            <a:r>
              <a:rPr sz="850">
                <a:solidFill>
                  <a:srgbClr val="94A3B8"/>
                </a:solidFill>
                <a:latin typeface="Arial"/>
              </a:rPr>
              <a:t> 08 de octubre de 2026.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932688" y="5184648"/>
            <a:ext cx="5541264" cy="1133856"/>
          </a:xfrm>
          <a:prstGeom prst="roundRect">
            <a:avLst/>
          </a:prstGeom>
          <a:solidFill>
            <a:srgbClr val="0B162C"/>
          </a:solidFill>
          <a:ln w="1905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1024128" y="5257800"/>
            <a:ext cx="2660904" cy="182880"/>
          </a:xfrm>
          <a:prstGeom prst="roundRect">
            <a:avLst/>
          </a:prstGeom>
          <a:solidFill>
            <a:srgbClr val="142A50"/>
          </a:solidFill>
          <a:ln w="9525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" rIns="45720" tIns="0" bIns="0"/>
          <a:lstStyle/>
          <a:p>
            <a:pPr algn="ctr"/>
            <a:r>
              <a:rPr sz="700" b="1">
                <a:solidFill>
                  <a:srgbClr val="38BDF8"/>
                </a:solidFill>
                <a:latin typeface="Consolas"/>
              </a:rPr>
              <a:t>⚡ METADATOS DEL PROYECTO ACADÉMICO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42416" y="5458968"/>
            <a:ext cx="5321808" cy="822960"/>
          </a:xfrm>
          <a:prstGeom prst="rect">
            <a:avLst/>
          </a:prstGeom>
          <a:noFill/>
        </p:spPr>
        <p:txBody>
          <a:bodyPr wrap="square" lIns="0" tIns="0" bIns="0" rIns="0">
            <a:spAutoFit/>
          </a:bodyPr>
          <a:lstStyle/>
          <a:p>
            <a:pPr>
              <a:spcAft>
                <a:spcPts val="200"/>
              </a:spcAft>
            </a:pPr>
            <a:r>
              <a:rPr sz="850">
                <a:solidFill>
                  <a:srgbClr val="38BDF8"/>
                </a:solidFill>
                <a:latin typeface="Consolas"/>
              </a:rPr>
              <a:t>Carrera: Ingeniería en Sistemas | Semestre II-2026</a:t>
            </a:r>
          </a:p>
          <a:p>
            <a:pPr>
              <a:spcAft>
                <a:spcPts val="200"/>
              </a:spcAft>
            </a:pPr>
            <a:r>
              <a:rPr sz="850">
                <a:solidFill>
                  <a:srgbClr val="38BDF8"/>
                </a:solidFill>
                <a:latin typeface="Consolas"/>
              </a:rPr>
              <a:t>Materia: Taller de Base de Datos II / Seguridad</a:t>
            </a:r>
          </a:p>
          <a:p>
            <a:pPr>
              <a:spcAft>
                <a:spcPts val="200"/>
              </a:spcAft>
            </a:pPr>
            <a:r>
              <a:rPr sz="850">
                <a:solidFill>
                  <a:srgbClr val="38BDF8"/>
                </a:solidFill>
                <a:latin typeface="Consolas"/>
              </a:rPr>
              <a:t>Sede: Santa Cruz de la Sierra — Bolivia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32688" y="6135624"/>
            <a:ext cx="5541264" cy="256032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r>
              <a:rPr sz="800" b="1">
                <a:solidFill>
                  <a:srgbClr val="10B981"/>
                </a:solidFill>
                <a:latin typeface="Arial"/>
              </a:rPr>
              <a:t>● ACTIVIDAD ACADÉMICA II — DOCUMENTO TÉCNICO OFICIAL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903720" y="1572768"/>
            <a:ext cx="4553712" cy="2331720"/>
          </a:xfrm>
          <a:prstGeom prst="roundRect">
            <a:avLst/>
          </a:prstGeom>
          <a:solidFill>
            <a:srgbClr val="101524"/>
          </a:solidFill>
          <a:ln w="12700">
            <a:solidFill>
              <a:srgbClr val="232D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104888" y="1737360"/>
            <a:ext cx="4151376" cy="1463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</a:pPr>
            <a:r>
              <a:rPr sz="1200" b="1">
                <a:solidFill>
                  <a:srgbClr val="FFFFFF"/>
                </a:solidFill>
                <a:latin typeface="Arial"/>
              </a:rPr>
              <a:t>🛡️ Propósito &amp; Alcance Real de la Práctica</a:t>
            </a:r>
          </a:p>
          <a:p>
            <a:pPr>
              <a:lnSpc>
                <a:spcPct val="115000"/>
              </a:lnSpc>
              <a:spcAft>
                <a:spcPts val="500"/>
              </a:spcAft>
            </a:pPr>
            <a:r>
              <a:rPr sz="900" b="1">
                <a:solidFill>
                  <a:srgbClr val="3B82F6"/>
                </a:solidFill>
                <a:latin typeface="Arial"/>
              </a:rPr>
              <a:t>•  </a:t>
            </a:r>
            <a:r>
              <a:rPr sz="900" b="1">
                <a:solidFill>
                  <a:srgbClr val="FFFFFF"/>
                </a:solidFill>
                <a:latin typeface="Arial"/>
              </a:rPr>
              <a:t>Objetivo Central:</a:t>
            </a:r>
            <a:r>
              <a:rPr sz="850">
                <a:solidFill>
                  <a:srgbClr val="94A3B8"/>
                </a:solidFill>
                <a:latin typeface="Arial"/>
              </a:rPr>
              <a:t> Partir de una instalación básica ('vanilla') y aplicar medidas sencillas que reduzcan accesos innecesarios.</a:t>
            </a:r>
          </a:p>
          <a:p>
            <a:pPr>
              <a:lnSpc>
                <a:spcPct val="115000"/>
              </a:lnSpc>
              <a:spcAft>
                <a:spcPts val="500"/>
              </a:spcAft>
            </a:pPr>
            <a:r>
              <a:rPr sz="900" b="1">
                <a:solidFill>
                  <a:srgbClr val="3B82F6"/>
                </a:solidFill>
                <a:latin typeface="Arial"/>
              </a:rPr>
              <a:t>•  </a:t>
            </a:r>
            <a:r>
              <a:rPr sz="900" b="1">
                <a:solidFill>
                  <a:srgbClr val="FFFFFF"/>
                </a:solidFill>
                <a:latin typeface="Arial"/>
              </a:rPr>
              <a:t>Enfoque de Laboratorio:</a:t>
            </a:r>
            <a:r>
              <a:rPr sz="850">
                <a:solidFill>
                  <a:srgbClr val="94A3B8"/>
                </a:solidFill>
                <a:latin typeface="Arial"/>
              </a:rPr>
              <a:t> Demostrar de forma comprensible cómo configuraciones básicas mejoran la seguridad.</a:t>
            </a:r>
          </a:p>
          <a:p>
            <a:pPr>
              <a:lnSpc>
                <a:spcPct val="115000"/>
              </a:lnSpc>
              <a:spcAft>
                <a:spcPts val="500"/>
              </a:spcAft>
            </a:pPr>
            <a:r>
              <a:rPr sz="900" b="1">
                <a:solidFill>
                  <a:srgbClr val="3B82F6"/>
                </a:solidFill>
                <a:latin typeface="Arial"/>
              </a:rPr>
              <a:t>•  </a:t>
            </a:r>
            <a:r>
              <a:rPr sz="900" b="1">
                <a:solidFill>
                  <a:srgbClr val="FFFFFF"/>
                </a:solidFill>
                <a:latin typeface="Arial"/>
              </a:rPr>
              <a:t>Transparencia Metodológica:</a:t>
            </a:r>
            <a:r>
              <a:rPr sz="850">
                <a:solidFill>
                  <a:srgbClr val="94A3B8"/>
                </a:solidFill>
                <a:latin typeface="Arial"/>
              </a:rPr>
              <a:t> El trabajo no pretende certificar el servidor ni afirmar porcentajes de cumplimiento empresarial.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104888" y="3575304"/>
            <a:ext cx="4151376" cy="256032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r>
              <a:rPr sz="800" b="1">
                <a:solidFill>
                  <a:srgbClr val="38BDF8"/>
                </a:solidFill>
                <a:latin typeface="Arial"/>
              </a:rPr>
              <a:t>● ENFOQUE: LABORATORIO COMPRENSIBLE Y DEMOSTRABLE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903720" y="4087368"/>
            <a:ext cx="4553712" cy="2377440"/>
          </a:xfrm>
          <a:prstGeom prst="roundRect">
            <a:avLst/>
          </a:prstGeom>
          <a:solidFill>
            <a:srgbClr val="101524"/>
          </a:solidFill>
          <a:ln w="12700">
            <a:solidFill>
              <a:srgbClr val="232D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104888" y="4251960"/>
            <a:ext cx="4151376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</a:pPr>
            <a:r>
              <a:rPr sz="1200" b="1">
                <a:solidFill>
                  <a:srgbClr val="FFFFFF"/>
                </a:solidFill>
                <a:latin typeface="Arial"/>
              </a:rPr>
              <a:t>🖥️ Entorno de Trabajo Desplegado</a:t>
            </a:r>
          </a:p>
          <a:p>
            <a:pPr>
              <a:lnSpc>
                <a:spcPct val="115000"/>
              </a:lnSpc>
              <a:spcAft>
                <a:spcPts val="500"/>
              </a:spcAft>
            </a:pPr>
            <a:r>
              <a:rPr sz="900" b="1">
                <a:solidFill>
                  <a:srgbClr val="3B82F6"/>
                </a:solidFill>
                <a:latin typeface="Arial"/>
              </a:rPr>
              <a:t>•  </a:t>
            </a:r>
            <a:r>
              <a:rPr sz="900" b="1">
                <a:solidFill>
                  <a:srgbClr val="FFFFFF"/>
                </a:solidFill>
                <a:latin typeface="Arial"/>
              </a:rPr>
              <a:t>SGBD Seleccionado:</a:t>
            </a:r>
            <a:r>
              <a:rPr sz="850">
                <a:solidFill>
                  <a:srgbClr val="94A3B8"/>
                </a:solidFill>
                <a:latin typeface="Arial"/>
              </a:rPr>
              <a:t> PostgreSQL 16 LTS (Gestión nativa de roles y conexiones).</a:t>
            </a:r>
          </a:p>
          <a:p>
            <a:pPr>
              <a:lnSpc>
                <a:spcPct val="115000"/>
              </a:lnSpc>
              <a:spcAft>
                <a:spcPts val="500"/>
              </a:spcAft>
            </a:pPr>
            <a:r>
              <a:rPr sz="900" b="1">
                <a:solidFill>
                  <a:srgbClr val="3B82F6"/>
                </a:solidFill>
                <a:latin typeface="Arial"/>
              </a:rPr>
              <a:t>•  </a:t>
            </a:r>
            <a:r>
              <a:rPr sz="900" b="1">
                <a:solidFill>
                  <a:srgbClr val="FFFFFF"/>
                </a:solidFill>
                <a:latin typeface="Arial"/>
              </a:rPr>
              <a:t>Sistema Operativo Base:</a:t>
            </a:r>
            <a:r>
              <a:rPr sz="850">
                <a:solidFill>
                  <a:srgbClr val="94A3B8"/>
                </a:solidFill>
                <a:latin typeface="Arial"/>
              </a:rPr>
              <a:t> Ubuntu Server 24.04 LTS.</a:t>
            </a:r>
          </a:p>
          <a:p>
            <a:pPr>
              <a:lnSpc>
                <a:spcPct val="115000"/>
              </a:lnSpc>
              <a:spcAft>
                <a:spcPts val="500"/>
              </a:spcAft>
            </a:pPr>
            <a:r>
              <a:rPr sz="900" b="1">
                <a:solidFill>
                  <a:srgbClr val="3B82F6"/>
                </a:solidFill>
                <a:latin typeface="Arial"/>
              </a:rPr>
              <a:t>•  </a:t>
            </a:r>
            <a:r>
              <a:rPr sz="900" b="1">
                <a:solidFill>
                  <a:srgbClr val="FFFFFF"/>
                </a:solidFill>
                <a:latin typeface="Arial"/>
              </a:rPr>
              <a:t>Tipo de Despliegue:</a:t>
            </a:r>
            <a:r>
              <a:rPr sz="850">
                <a:solidFill>
                  <a:srgbClr val="94A3B8"/>
                </a:solidFill>
                <a:latin typeface="Arial"/>
              </a:rPr>
              <a:t> Entorno académico controlado de laboratorio.</a:t>
            </a:r>
          </a:p>
          <a:p>
            <a:pPr>
              <a:lnSpc>
                <a:spcPct val="115000"/>
              </a:lnSpc>
              <a:spcAft>
                <a:spcPts val="500"/>
              </a:spcAft>
            </a:pPr>
            <a:r>
              <a:rPr sz="900" b="1">
                <a:solidFill>
                  <a:srgbClr val="3B82F6"/>
                </a:solidFill>
                <a:latin typeface="Arial"/>
              </a:rPr>
              <a:t>•  </a:t>
            </a:r>
            <a:r>
              <a:rPr sz="900" b="1">
                <a:solidFill>
                  <a:srgbClr val="FFFFFF"/>
                </a:solidFill>
                <a:latin typeface="Arial"/>
              </a:rPr>
              <a:t>Referencias Guía:</a:t>
            </a:r>
            <a:r>
              <a:rPr sz="850">
                <a:solidFill>
                  <a:srgbClr val="94A3B8"/>
                </a:solidFill>
                <a:latin typeface="Arial"/>
              </a:rPr>
              <a:t> Documentación PostgreSQL, Ubuntu, INCIBE y CIS Benchmarks.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104888" y="5184648"/>
            <a:ext cx="4151376" cy="1133856"/>
          </a:xfrm>
          <a:prstGeom prst="roundRect">
            <a:avLst/>
          </a:prstGeom>
          <a:solidFill>
            <a:srgbClr val="0B162C"/>
          </a:solidFill>
          <a:ln w="1905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7196328" y="5257800"/>
            <a:ext cx="2441448" cy="182880"/>
          </a:xfrm>
          <a:prstGeom prst="roundRect">
            <a:avLst/>
          </a:prstGeom>
          <a:solidFill>
            <a:srgbClr val="142A50"/>
          </a:solidFill>
          <a:ln w="9525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" rIns="45720" tIns="0" bIns="0"/>
          <a:lstStyle/>
          <a:p>
            <a:pPr algn="ctr"/>
            <a:r>
              <a:rPr sz="700" b="1">
                <a:solidFill>
                  <a:srgbClr val="38BDF8"/>
                </a:solidFill>
                <a:latin typeface="Consolas"/>
              </a:rPr>
              <a:t>⚡ ENTORNO DE RED DE LABORATORIO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214616" y="5458968"/>
            <a:ext cx="3931920" cy="822960"/>
          </a:xfrm>
          <a:prstGeom prst="rect">
            <a:avLst/>
          </a:prstGeom>
          <a:noFill/>
        </p:spPr>
        <p:txBody>
          <a:bodyPr wrap="square" lIns="0" tIns="0" bIns="0" rIns="0">
            <a:spAutoFit/>
          </a:bodyPr>
          <a:lstStyle/>
          <a:p>
            <a:pPr>
              <a:spcAft>
                <a:spcPts val="200"/>
              </a:spcAft>
            </a:pPr>
            <a:r>
              <a:rPr sz="850">
                <a:solidFill>
                  <a:srgbClr val="38BDF8"/>
                </a:solidFill>
                <a:latin typeface="Consolas"/>
              </a:rPr>
              <a:t>Red Autorizada: 192.168.1.0/24</a:t>
            </a:r>
          </a:p>
          <a:p>
            <a:pPr>
              <a:spcAft>
                <a:spcPts val="200"/>
              </a:spcAft>
            </a:pPr>
            <a:r>
              <a:rPr sz="850">
                <a:solidFill>
                  <a:srgbClr val="38BDF8"/>
                </a:solidFill>
                <a:latin typeface="Consolas"/>
              </a:rPr>
              <a:t>Base de Datos: app_practica | Usuario: app_user</a:t>
            </a:r>
          </a:p>
        </p:txBody>
      </p:sp>
    </p:spTree>
  </p:cSld>
  <p:transition spd="med">
    <p:zoom/>
  </p:transition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90C1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347472"/>
            <a:ext cx="4032504" cy="274320"/>
          </a:xfrm>
          <a:prstGeom prst="roundRect">
            <a:avLst/>
          </a:prstGeom>
          <a:solidFill>
            <a:srgbClr val="121C34"/>
          </a:solidFill>
          <a:ln w="12700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18288" bIns="18288"/>
          <a:lstStyle/>
          <a:p>
            <a:pPr algn="ctr"/>
            <a:r>
              <a:rPr sz="850" b="1">
                <a:solidFill>
                  <a:srgbClr val="38BDF8"/>
                </a:solidFill>
                <a:latin typeface="Arial"/>
              </a:rPr>
              <a:t>●  SECCIÓN RESUMEN // ENFOQUE DE LA ACTIVIDAD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601200" y="347472"/>
            <a:ext cx="1828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50" b="1">
                <a:solidFill>
                  <a:srgbClr val="64748B"/>
                </a:solidFill>
                <a:latin typeface="Consolas"/>
              </a:rPr>
              <a:t>SLIDE 02 / 14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676656"/>
            <a:ext cx="10698480" cy="438912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r>
              <a:rPr sz="2000" b="1">
                <a:solidFill>
                  <a:srgbClr val="FFFFFF"/>
                </a:solidFill>
                <a:latin typeface="Arial"/>
              </a:rPr>
              <a:t>Resumen Ejecutivo y Criterio de Selección de Medidas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133856"/>
            <a:ext cx="10698480" cy="292608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r>
              <a:rPr sz="1050">
                <a:solidFill>
                  <a:srgbClr val="94A3B8"/>
                </a:solidFill>
                <a:latin typeface="Arial"/>
              </a:rPr>
              <a:t>Filosofía de fortificación progresiva sin sobredimensionamiento ni afirmaciones no demostrables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572768"/>
            <a:ext cx="3337560" cy="4892040"/>
          </a:xfrm>
          <a:prstGeom prst="roundRect">
            <a:avLst/>
          </a:prstGeom>
          <a:solidFill>
            <a:srgbClr val="101524"/>
          </a:solidFill>
          <a:ln w="12700">
            <a:solidFill>
              <a:srgbClr val="232D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32688" y="1737360"/>
            <a:ext cx="2935224" cy="31546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</a:pPr>
            <a:r>
              <a:rPr sz="1200" b="1">
                <a:solidFill>
                  <a:srgbClr val="FFFFFF"/>
                </a:solidFill>
                <a:latin typeface="Arial"/>
              </a:rPr>
              <a:t>📋 Justificación del Proyecto</a:t>
            </a:r>
          </a:p>
          <a:p>
            <a:pPr>
              <a:lnSpc>
                <a:spcPct val="115000"/>
              </a:lnSpc>
              <a:spcAft>
                <a:spcPts val="500"/>
              </a:spcAft>
            </a:pPr>
            <a:r>
              <a:rPr sz="900" b="1">
                <a:solidFill>
                  <a:srgbClr val="3B82F6"/>
                </a:solidFill>
                <a:latin typeface="Arial"/>
              </a:rPr>
              <a:t>•  </a:t>
            </a:r>
            <a:r>
              <a:rPr sz="900" b="1">
                <a:solidFill>
                  <a:srgbClr val="FFFFFF"/>
                </a:solidFill>
                <a:latin typeface="Arial"/>
              </a:rPr>
              <a:t>Almacenamiento Crítico:</a:t>
            </a:r>
            <a:r>
              <a:rPr sz="850">
                <a:solidFill>
                  <a:srgbClr val="94A3B8"/>
                </a:solidFill>
                <a:latin typeface="Arial"/>
              </a:rPr>
              <a:t> Un SGBD contiene información esencial para una organización; no basta con dejar la configuración por defecto.</a:t>
            </a:r>
          </a:p>
          <a:p>
            <a:pPr>
              <a:lnSpc>
                <a:spcPct val="115000"/>
              </a:lnSpc>
              <a:spcAft>
                <a:spcPts val="500"/>
              </a:spcAft>
            </a:pPr>
            <a:r>
              <a:rPr sz="900" b="1">
                <a:solidFill>
                  <a:srgbClr val="3B82F6"/>
                </a:solidFill>
                <a:latin typeface="Arial"/>
              </a:rPr>
              <a:t>•  </a:t>
            </a:r>
            <a:r>
              <a:rPr sz="900" b="1">
                <a:solidFill>
                  <a:srgbClr val="FFFFFF"/>
                </a:solidFill>
                <a:latin typeface="Arial"/>
              </a:rPr>
              <a:t>Bastionado según INCIBE:</a:t>
            </a:r>
            <a:r>
              <a:rPr sz="850">
                <a:solidFill>
                  <a:srgbClr val="94A3B8"/>
                </a:solidFill>
                <a:latin typeface="Arial"/>
              </a:rPr>
              <a:t> Consiste en revisar opciones y reducir parámetros que generen riesgos innecesarios.</a:t>
            </a:r>
          </a:p>
          <a:p>
            <a:pPr>
              <a:lnSpc>
                <a:spcPct val="115000"/>
              </a:lnSpc>
              <a:spcAft>
                <a:spcPts val="500"/>
              </a:spcAft>
            </a:pPr>
            <a:r>
              <a:rPr sz="900" b="1">
                <a:solidFill>
                  <a:srgbClr val="3B82F6"/>
                </a:solidFill>
                <a:latin typeface="Arial"/>
              </a:rPr>
              <a:t>•  </a:t>
            </a:r>
            <a:r>
              <a:rPr sz="900" b="1">
                <a:solidFill>
                  <a:srgbClr val="FFFFFF"/>
                </a:solidFill>
                <a:latin typeface="Arial"/>
              </a:rPr>
              <a:t>Selección de PostgreSQL:</a:t>
            </a:r>
            <a:r>
              <a:rPr sz="850">
                <a:solidFill>
                  <a:srgbClr val="94A3B8"/>
                </a:solidFill>
                <a:latin typeface="Arial"/>
              </a:rPr>
              <a:t> Permite administrar usuarios, roles, permisos, conexiones y registros de manera clara y estructurada.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932688" y="5184648"/>
            <a:ext cx="2935224" cy="1133856"/>
          </a:xfrm>
          <a:prstGeom prst="roundRect">
            <a:avLst/>
          </a:prstGeom>
          <a:solidFill>
            <a:srgbClr val="0B162C"/>
          </a:solidFill>
          <a:ln w="1905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1024128" y="5257800"/>
            <a:ext cx="3099816" cy="182880"/>
          </a:xfrm>
          <a:prstGeom prst="roundRect">
            <a:avLst/>
          </a:prstGeom>
          <a:solidFill>
            <a:srgbClr val="142A50"/>
          </a:solidFill>
          <a:ln w="9525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" rIns="45720" tIns="0" bIns="0"/>
          <a:lstStyle/>
          <a:p>
            <a:pPr algn="ctr"/>
            <a:r>
              <a:rPr sz="700" b="1">
                <a:solidFill>
                  <a:srgbClr val="38BDF8"/>
                </a:solidFill>
                <a:latin typeface="Consolas"/>
              </a:rPr>
              <a:t>⚡ DEFINICIÓN DE BASTIONADO (INCIBE 2023)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42416" y="5458968"/>
            <a:ext cx="2715768" cy="822960"/>
          </a:xfrm>
          <a:prstGeom prst="rect">
            <a:avLst/>
          </a:prstGeom>
          <a:noFill/>
        </p:spPr>
        <p:txBody>
          <a:bodyPr wrap="square" lIns="0" tIns="0" bIns="0" rIns="0">
            <a:spAutoFit/>
          </a:bodyPr>
          <a:lstStyle/>
          <a:p>
            <a:pPr>
              <a:spcAft>
                <a:spcPts val="200"/>
              </a:spcAft>
            </a:pPr>
            <a:r>
              <a:rPr sz="850">
                <a:solidFill>
                  <a:srgbClr val="38BDF8"/>
                </a:solidFill>
                <a:latin typeface="Consolas"/>
              </a:rPr>
              <a:t>"El bastionado permite identificar configuraciones</a:t>
            </a:r>
          </a:p>
          <a:p>
            <a:pPr>
              <a:spcAft>
                <a:spcPts val="200"/>
              </a:spcAft>
            </a:pPr>
            <a:r>
              <a:rPr sz="850">
                <a:solidFill>
                  <a:srgbClr val="38BDF8"/>
                </a:solidFill>
                <a:latin typeface="Consolas"/>
              </a:rPr>
              <a:t> seguras y aplicar medidas adicionales para</a:t>
            </a:r>
          </a:p>
          <a:p>
            <a:pPr>
              <a:spcAft>
                <a:spcPts val="200"/>
              </a:spcAft>
            </a:pPr>
            <a:r>
              <a:rPr sz="850">
                <a:solidFill>
                  <a:srgbClr val="38BDF8"/>
                </a:solidFill>
                <a:latin typeface="Consolas"/>
              </a:rPr>
              <a:t> mejorar la protección de un sistema."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32688" y="6135624"/>
            <a:ext cx="2935224" cy="256032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r>
              <a:rPr sz="800" b="1">
                <a:solidFill>
                  <a:srgbClr val="10B981"/>
                </a:solidFill>
                <a:latin typeface="Arial"/>
              </a:rPr>
              <a:t>● FUNDAMENTO: INCIBE &amp; BUENAS PRÁCTICAS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416552" y="1572768"/>
            <a:ext cx="3337560" cy="4892040"/>
          </a:xfrm>
          <a:prstGeom prst="roundRect">
            <a:avLst/>
          </a:prstGeom>
          <a:solidFill>
            <a:srgbClr val="141C30"/>
          </a:solidFill>
          <a:ln w="19050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617720" y="1737360"/>
            <a:ext cx="2935224" cy="31546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</a:pPr>
            <a:r>
              <a:rPr sz="1200" b="1">
                <a:solidFill>
                  <a:srgbClr val="38BDF8"/>
                </a:solidFill>
                <a:latin typeface="Arial"/>
              </a:rPr>
              <a:t>🎯 6 Ejes de Endurecimiento</a:t>
            </a:r>
          </a:p>
          <a:p>
            <a:pPr>
              <a:lnSpc>
                <a:spcPct val="115000"/>
              </a:lnSpc>
              <a:spcAft>
                <a:spcPts val="500"/>
              </a:spcAft>
            </a:pPr>
            <a:r>
              <a:rPr sz="900" b="1">
                <a:solidFill>
                  <a:srgbClr val="38BDF8"/>
                </a:solidFill>
                <a:latin typeface="Arial"/>
              </a:rPr>
              <a:t>•  </a:t>
            </a:r>
            <a:r>
              <a:rPr sz="900" b="1">
                <a:solidFill>
                  <a:srgbClr val="FFFFFF"/>
                </a:solidFill>
                <a:latin typeface="Arial"/>
              </a:rPr>
              <a:t>Actualización:</a:t>
            </a:r>
            <a:r>
              <a:rPr sz="850">
                <a:solidFill>
                  <a:srgbClr val="94A3B8"/>
                </a:solidFill>
                <a:latin typeface="Arial"/>
              </a:rPr>
              <a:t> Mantener Ubuntu y PostgreSQL al día con parches vigentes.</a:t>
            </a:r>
          </a:p>
          <a:p>
            <a:pPr>
              <a:lnSpc>
                <a:spcPct val="115000"/>
              </a:lnSpc>
              <a:spcAft>
                <a:spcPts val="500"/>
              </a:spcAft>
            </a:pPr>
            <a:r>
              <a:rPr sz="900" b="1">
                <a:solidFill>
                  <a:srgbClr val="38BDF8"/>
                </a:solidFill>
                <a:latin typeface="Arial"/>
              </a:rPr>
              <a:t>•  </a:t>
            </a:r>
            <a:r>
              <a:rPr sz="900" b="1">
                <a:solidFill>
                  <a:srgbClr val="FFFFFF"/>
                </a:solidFill>
                <a:latin typeface="Arial"/>
              </a:rPr>
              <a:t>Control de Conexiones:</a:t>
            </a:r>
            <a:r>
              <a:rPr sz="850">
                <a:solidFill>
                  <a:srgbClr val="94A3B8"/>
                </a:solidFill>
                <a:latin typeface="Arial"/>
              </a:rPr>
              <a:t> Filtrado estricto por red y usuario en pg_hba.conf.</a:t>
            </a:r>
          </a:p>
          <a:p>
            <a:pPr>
              <a:lnSpc>
                <a:spcPct val="115000"/>
              </a:lnSpc>
              <a:spcAft>
                <a:spcPts val="500"/>
              </a:spcAft>
            </a:pPr>
            <a:r>
              <a:rPr sz="900" b="1">
                <a:solidFill>
                  <a:srgbClr val="38BDF8"/>
                </a:solidFill>
                <a:latin typeface="Arial"/>
              </a:rPr>
              <a:t>•  </a:t>
            </a:r>
            <a:r>
              <a:rPr sz="900" b="1">
                <a:solidFill>
                  <a:srgbClr val="FFFFFF"/>
                </a:solidFill>
                <a:latin typeface="Arial"/>
              </a:rPr>
              <a:t>Autenticación Segura:</a:t>
            </a:r>
            <a:r>
              <a:rPr sz="850">
                <a:solidFill>
                  <a:srgbClr val="94A3B8"/>
                </a:solidFill>
                <a:latin typeface="Arial"/>
              </a:rPr>
              <a:t> Algoritmo SCRAM-SHA-256 en contraseñas.</a:t>
            </a:r>
          </a:p>
          <a:p>
            <a:pPr>
              <a:lnSpc>
                <a:spcPct val="115000"/>
              </a:lnSpc>
              <a:spcAft>
                <a:spcPts val="500"/>
              </a:spcAft>
            </a:pPr>
            <a:r>
              <a:rPr sz="900" b="1">
                <a:solidFill>
                  <a:srgbClr val="38BDF8"/>
                </a:solidFill>
                <a:latin typeface="Arial"/>
              </a:rPr>
              <a:t>•  </a:t>
            </a:r>
            <a:r>
              <a:rPr sz="900" b="1">
                <a:solidFill>
                  <a:srgbClr val="FFFFFF"/>
                </a:solidFill>
                <a:latin typeface="Arial"/>
              </a:rPr>
              <a:t>Mínimo Privilegio:</a:t>
            </a:r>
            <a:r>
              <a:rPr sz="850">
                <a:solidFill>
                  <a:srgbClr val="94A3B8"/>
                </a:solidFill>
                <a:latin typeface="Arial"/>
              </a:rPr>
              <a:t> Creación de roles de lectura/escritura y revoke public.</a:t>
            </a:r>
          </a:p>
          <a:p>
            <a:pPr>
              <a:lnSpc>
                <a:spcPct val="115000"/>
              </a:lnSpc>
              <a:spcAft>
                <a:spcPts val="500"/>
              </a:spcAft>
            </a:pPr>
            <a:r>
              <a:rPr sz="900" b="1">
                <a:solidFill>
                  <a:srgbClr val="38BDF8"/>
                </a:solidFill>
                <a:latin typeface="Arial"/>
              </a:rPr>
              <a:t>•  </a:t>
            </a:r>
            <a:r>
              <a:rPr sz="900" b="1">
                <a:solidFill>
                  <a:srgbClr val="FFFFFF"/>
                </a:solidFill>
                <a:latin typeface="Arial"/>
              </a:rPr>
              <a:t>Comunicaciones TLS:</a:t>
            </a:r>
            <a:r>
              <a:rPr sz="850">
                <a:solidFill>
                  <a:srgbClr val="94A3B8"/>
                </a:solidFill>
                <a:latin typeface="Arial"/>
              </a:rPr>
              <a:t> Cifrado en tránsito con certificados X.509.</a:t>
            </a:r>
          </a:p>
          <a:p>
            <a:pPr>
              <a:lnSpc>
                <a:spcPct val="115000"/>
              </a:lnSpc>
              <a:spcAft>
                <a:spcPts val="500"/>
              </a:spcAft>
            </a:pPr>
            <a:r>
              <a:rPr sz="900" b="1">
                <a:solidFill>
                  <a:srgbClr val="38BDF8"/>
                </a:solidFill>
                <a:latin typeface="Arial"/>
              </a:rPr>
              <a:t>•  </a:t>
            </a:r>
            <a:r>
              <a:rPr sz="900" b="1">
                <a:solidFill>
                  <a:srgbClr val="FFFFFF"/>
                </a:solidFill>
                <a:latin typeface="Arial"/>
              </a:rPr>
              <a:t>Registro y Respaldo:</a:t>
            </a:r>
            <a:r>
              <a:rPr sz="850">
                <a:solidFill>
                  <a:srgbClr val="94A3B8"/>
                </a:solidFill>
                <a:latin typeface="Arial"/>
              </a:rPr>
              <a:t> Logs de conexiones y backup lógico con pg_dump.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617720" y="5184648"/>
            <a:ext cx="2935224" cy="1133856"/>
          </a:xfrm>
          <a:prstGeom prst="roundRect">
            <a:avLst/>
          </a:prstGeom>
          <a:solidFill>
            <a:srgbClr val="0B162C"/>
          </a:solidFill>
          <a:ln w="1905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4709160" y="5257800"/>
            <a:ext cx="2221992" cy="182880"/>
          </a:xfrm>
          <a:prstGeom prst="roundRect">
            <a:avLst/>
          </a:prstGeom>
          <a:solidFill>
            <a:srgbClr val="142A50"/>
          </a:solidFill>
          <a:ln w="9525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" rIns="45720" tIns="0" bIns="0"/>
          <a:lstStyle/>
          <a:p>
            <a:pPr algn="ctr"/>
            <a:r>
              <a:rPr sz="700" b="1">
                <a:solidFill>
                  <a:srgbClr val="38BDF8"/>
                </a:solidFill>
                <a:latin typeface="Consolas"/>
              </a:rPr>
              <a:t>⚡ PALABRAS CLAVE DEL INFORME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727448" y="5458968"/>
            <a:ext cx="2715768" cy="822960"/>
          </a:xfrm>
          <a:prstGeom prst="rect">
            <a:avLst/>
          </a:prstGeom>
          <a:noFill/>
        </p:spPr>
        <p:txBody>
          <a:bodyPr wrap="square" lIns="0" tIns="0" bIns="0" rIns="0">
            <a:spAutoFit/>
          </a:bodyPr>
          <a:lstStyle/>
          <a:p>
            <a:pPr>
              <a:spcAft>
                <a:spcPts val="200"/>
              </a:spcAft>
            </a:pPr>
            <a:r>
              <a:rPr sz="850">
                <a:solidFill>
                  <a:srgbClr val="38BDF8"/>
                </a:solidFill>
                <a:latin typeface="Consolas"/>
              </a:rPr>
              <a:t>PostgreSQL | Seguridad | Hardening</a:t>
            </a:r>
          </a:p>
          <a:p>
            <a:pPr>
              <a:spcAft>
                <a:spcPts val="200"/>
              </a:spcAft>
            </a:pPr>
            <a:r>
              <a:rPr sz="850">
                <a:solidFill>
                  <a:srgbClr val="38BDF8"/>
                </a:solidFill>
                <a:latin typeface="Consolas"/>
              </a:rPr>
              <a:t>Autenticación | Roles | Respaldo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617720" y="6135624"/>
            <a:ext cx="2935224" cy="256032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r>
              <a:rPr sz="800" b="1">
                <a:solidFill>
                  <a:srgbClr val="38BDF8"/>
                </a:solidFill>
                <a:latin typeface="Arial"/>
              </a:rPr>
              <a:t>● COBERTURA EN 6 MEDIDAS BÁSICAS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101583" y="1572768"/>
            <a:ext cx="3337560" cy="4892040"/>
          </a:xfrm>
          <a:prstGeom prst="roundRect">
            <a:avLst/>
          </a:prstGeom>
          <a:solidFill>
            <a:srgbClr val="101524"/>
          </a:solidFill>
          <a:ln w="12700">
            <a:solidFill>
              <a:srgbClr val="232D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302751" y="1737360"/>
            <a:ext cx="2935224" cy="31546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</a:pPr>
            <a:r>
              <a:rPr sz="1200" b="1">
                <a:solidFill>
                  <a:srgbClr val="FFFFFF"/>
                </a:solidFill>
                <a:latin typeface="Arial"/>
              </a:rPr>
              <a:t>⚖️ Delimitación del Alcance</a:t>
            </a:r>
          </a:p>
          <a:p>
            <a:pPr>
              <a:lnSpc>
                <a:spcPct val="115000"/>
              </a:lnSpc>
              <a:spcAft>
                <a:spcPts val="500"/>
              </a:spcAft>
            </a:pPr>
            <a:r>
              <a:rPr sz="900" b="1">
                <a:solidFill>
                  <a:srgbClr val="3B82F6"/>
                </a:solidFill>
                <a:latin typeface="Arial"/>
              </a:rPr>
              <a:t>•  </a:t>
            </a:r>
            <a:r>
              <a:rPr sz="900" b="1">
                <a:solidFill>
                  <a:srgbClr val="FFFFFF"/>
                </a:solidFill>
                <a:latin typeface="Arial"/>
              </a:rPr>
              <a:t>Eliminación de Afirmaciones Excesivas:</a:t>
            </a:r>
            <a:r>
              <a:rPr sz="850">
                <a:solidFill>
                  <a:srgbClr val="94A3B8"/>
                </a:solidFill>
                <a:latin typeface="Arial"/>
              </a:rPr>
              <a:t> Se descartaron porcentajes de cumplimiento o certificaciones comerciales sin evidencia de laboratorio.</a:t>
            </a:r>
          </a:p>
          <a:p>
            <a:pPr>
              <a:lnSpc>
                <a:spcPct val="115000"/>
              </a:lnSpc>
              <a:spcAft>
                <a:spcPts val="500"/>
              </a:spcAft>
            </a:pPr>
            <a:r>
              <a:rPr sz="900" b="1">
                <a:solidFill>
                  <a:srgbClr val="3B82F6"/>
                </a:solidFill>
                <a:latin typeface="Arial"/>
              </a:rPr>
              <a:t>•  </a:t>
            </a:r>
            <a:r>
              <a:rPr sz="900" b="1">
                <a:solidFill>
                  <a:srgbClr val="FFFFFF"/>
                </a:solidFill>
                <a:latin typeface="Arial"/>
              </a:rPr>
              <a:t>Defensa en Exposición:</a:t>
            </a:r>
            <a:r>
              <a:rPr sz="850">
                <a:solidFill>
                  <a:srgbClr val="94A3B8"/>
                </a:solidFill>
                <a:latin typeface="Arial"/>
              </a:rPr>
              <a:t> Se priorizan configuraciones que puedan ser ejecutadas, verificadas y explicadas durante la defensa oral.</a:t>
            </a:r>
          </a:p>
          <a:p>
            <a:pPr>
              <a:lnSpc>
                <a:spcPct val="115000"/>
              </a:lnSpc>
              <a:spcAft>
                <a:spcPts val="500"/>
              </a:spcAft>
            </a:pPr>
            <a:r>
              <a:rPr sz="900" b="1">
                <a:solidFill>
                  <a:srgbClr val="3B82F6"/>
                </a:solidFill>
                <a:latin typeface="Arial"/>
              </a:rPr>
              <a:t>•  </a:t>
            </a:r>
            <a:r>
              <a:rPr sz="900" b="1">
                <a:solidFill>
                  <a:srgbClr val="FFFFFF"/>
                </a:solidFill>
                <a:latin typeface="Arial"/>
              </a:rPr>
              <a:t>Criterio Académico:</a:t>
            </a:r>
            <a:r>
              <a:rPr sz="850">
                <a:solidFill>
                  <a:srgbClr val="94A3B8"/>
                </a:solidFill>
                <a:latin typeface="Arial"/>
              </a:rPr>
              <a:t> Demostrar de forma transparente el impacto positivo de pequeñas configuraciones de seguridad.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302751" y="5184648"/>
            <a:ext cx="2935224" cy="1133856"/>
          </a:xfrm>
          <a:prstGeom prst="roundRect">
            <a:avLst/>
          </a:prstGeom>
          <a:solidFill>
            <a:srgbClr val="0B162C"/>
          </a:solidFill>
          <a:ln w="1905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8394191" y="5257800"/>
            <a:ext cx="2441448" cy="182880"/>
          </a:xfrm>
          <a:prstGeom prst="roundRect">
            <a:avLst/>
          </a:prstGeom>
          <a:solidFill>
            <a:srgbClr val="142A50"/>
          </a:solidFill>
          <a:ln w="9525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" rIns="45720" tIns="0" bIns="0"/>
          <a:lstStyle/>
          <a:p>
            <a:pPr algn="ctr"/>
            <a:r>
              <a:rPr sz="700" b="1">
                <a:solidFill>
                  <a:srgbClr val="38BDF8"/>
                </a:solidFill>
                <a:latin typeface="Consolas"/>
              </a:rPr>
              <a:t>⚡ CRITERIO DE DEFENSA ACADÉMICA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412479" y="5458968"/>
            <a:ext cx="2715768" cy="822960"/>
          </a:xfrm>
          <a:prstGeom prst="rect">
            <a:avLst/>
          </a:prstGeom>
          <a:noFill/>
        </p:spPr>
        <p:txBody>
          <a:bodyPr wrap="square" lIns="0" tIns="0" bIns="0" rIns="0">
            <a:spAutoFit/>
          </a:bodyPr>
          <a:lstStyle/>
          <a:p>
            <a:pPr>
              <a:spcAft>
                <a:spcPts val="200"/>
              </a:spcAft>
            </a:pPr>
            <a:r>
              <a:rPr sz="850">
                <a:solidFill>
                  <a:srgbClr val="38BDF8"/>
                </a:solidFill>
                <a:latin typeface="Consolas"/>
              </a:rPr>
              <a:t>"Es preferible utilizar configuraciones que puedan</a:t>
            </a:r>
          </a:p>
          <a:p>
            <a:pPr>
              <a:spcAft>
                <a:spcPts val="200"/>
              </a:spcAft>
            </a:pPr>
            <a:r>
              <a:rPr sz="850">
                <a:solidFill>
                  <a:srgbClr val="38BDF8"/>
                </a:solidFill>
                <a:latin typeface="Consolas"/>
              </a:rPr>
              <a:t> ejecutarse y verificarse correctamente, en lugar</a:t>
            </a:r>
          </a:p>
          <a:p>
            <a:pPr>
              <a:spcAft>
                <a:spcPts val="200"/>
              </a:spcAft>
            </a:pPr>
            <a:r>
              <a:rPr sz="850">
                <a:solidFill>
                  <a:srgbClr val="38BDF8"/>
                </a:solidFill>
                <a:latin typeface="Consolas"/>
              </a:rPr>
              <a:t> de controles avanzados que no hayan sido probados."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302751" y="6135624"/>
            <a:ext cx="2935224" cy="256032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r>
              <a:rPr sz="800" b="1">
                <a:solidFill>
                  <a:srgbClr val="10B981"/>
                </a:solidFill>
                <a:latin typeface="Arial"/>
              </a:rPr>
              <a:t>● ALCANCE: 100% DEMOSTRABLE EN VIVO</a:t>
            </a:r>
          </a:p>
        </p:txBody>
      </p:sp>
    </p:spTree>
  </p:cSld>
  <p:transition spd="med">
    <p:fade/>
  </p:transition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90C1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347472"/>
            <a:ext cx="3744468" cy="274320"/>
          </a:xfrm>
          <a:prstGeom prst="roundRect">
            <a:avLst/>
          </a:prstGeom>
          <a:solidFill>
            <a:srgbClr val="121C34"/>
          </a:solidFill>
          <a:ln w="12700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18288" bIns="18288"/>
          <a:lstStyle/>
          <a:p>
            <a:pPr algn="ctr"/>
            <a:r>
              <a:rPr sz="850" b="1">
                <a:solidFill>
                  <a:srgbClr val="38BDF8"/>
                </a:solidFill>
                <a:latin typeface="Arial"/>
              </a:rPr>
              <a:t>●  SECCIÓN 1 // INTRODUCCIÓN Y FUNDAMENTOS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601200" y="347472"/>
            <a:ext cx="1828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50" b="1">
                <a:solidFill>
                  <a:srgbClr val="64748B"/>
                </a:solidFill>
                <a:latin typeface="Consolas"/>
              </a:rPr>
              <a:t>SLIDE 03 / 14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676656"/>
            <a:ext cx="10698480" cy="438912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r>
              <a:rPr sz="2000" b="1">
                <a:solidFill>
                  <a:srgbClr val="FFFFFF"/>
                </a:solidFill>
                <a:latin typeface="Arial"/>
              </a:rPr>
              <a:t>Concepto de Hardening y Selección de la Tecnología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133856"/>
            <a:ext cx="10698480" cy="292608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r>
              <a:rPr sz="1050">
                <a:solidFill>
                  <a:srgbClr val="94A3B8"/>
                </a:solidFill>
                <a:latin typeface="Arial"/>
              </a:rPr>
              <a:t>Por qué una instalación por defecto es insuficiente y justificación de la plataforma elegida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572768"/>
            <a:ext cx="3337560" cy="4892040"/>
          </a:xfrm>
          <a:prstGeom prst="roundRect">
            <a:avLst/>
          </a:prstGeom>
          <a:solidFill>
            <a:srgbClr val="101524"/>
          </a:solidFill>
          <a:ln w="12700">
            <a:solidFill>
              <a:srgbClr val="232D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32688" y="1737360"/>
            <a:ext cx="2935224" cy="31546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</a:pPr>
            <a:r>
              <a:rPr sz="1200" b="1">
                <a:solidFill>
                  <a:srgbClr val="FFFFFF"/>
                </a:solidFill>
                <a:latin typeface="Arial"/>
              </a:rPr>
              <a:t>🛡️ El Concepto de Hardening</a:t>
            </a:r>
          </a:p>
          <a:p>
            <a:pPr>
              <a:lnSpc>
                <a:spcPct val="115000"/>
              </a:lnSpc>
              <a:spcAft>
                <a:spcPts val="500"/>
              </a:spcAft>
            </a:pPr>
            <a:r>
              <a:rPr sz="900" b="1">
                <a:solidFill>
                  <a:srgbClr val="3B82F6"/>
                </a:solidFill>
                <a:latin typeface="Arial"/>
              </a:rPr>
              <a:t>•  </a:t>
            </a:r>
            <a:r>
              <a:rPr sz="850">
                <a:solidFill>
                  <a:srgbClr val="94A3B8"/>
                </a:solidFill>
                <a:latin typeface="Arial"/>
              </a:rPr>
              <a:t>También llamado 'Bastionado' o 'Endurecimiento' de servidores.</a:t>
            </a:r>
          </a:p>
          <a:p>
            <a:pPr>
              <a:lnSpc>
                <a:spcPct val="115000"/>
              </a:lnSpc>
              <a:spcAft>
                <a:spcPts val="500"/>
              </a:spcAft>
            </a:pPr>
            <a:r>
              <a:rPr sz="900" b="1">
                <a:solidFill>
                  <a:srgbClr val="3B82F6"/>
                </a:solidFill>
                <a:latin typeface="Arial"/>
              </a:rPr>
              <a:t>•  </a:t>
            </a:r>
            <a:r>
              <a:rPr sz="900" b="1">
                <a:solidFill>
                  <a:srgbClr val="FFFFFF"/>
                </a:solidFill>
                <a:latin typeface="Arial"/>
              </a:rPr>
              <a:t>Riesgo de la Instalación por Defecto:</a:t>
            </a:r>
            <a:r>
              <a:rPr sz="850">
                <a:solidFill>
                  <a:srgbClr val="94A3B8"/>
                </a:solidFill>
                <a:latin typeface="Arial"/>
              </a:rPr>
              <a:t> Prioriza compatibilidad inmediata sobre seguridad, habilitando opciones abiertas innecesarias.</a:t>
            </a:r>
          </a:p>
          <a:p>
            <a:pPr>
              <a:lnSpc>
                <a:spcPct val="115000"/>
              </a:lnSpc>
              <a:spcAft>
                <a:spcPts val="500"/>
              </a:spcAft>
            </a:pPr>
            <a:r>
              <a:rPr sz="900" b="1">
                <a:solidFill>
                  <a:srgbClr val="3B82F6"/>
                </a:solidFill>
                <a:latin typeface="Arial"/>
              </a:rPr>
              <a:t>•  </a:t>
            </a:r>
            <a:r>
              <a:rPr sz="900" b="1">
                <a:solidFill>
                  <a:srgbClr val="FFFFFF"/>
                </a:solidFill>
                <a:latin typeface="Arial"/>
              </a:rPr>
              <a:t>Objetivo Principal:</a:t>
            </a:r>
            <a:r>
              <a:rPr sz="850">
                <a:solidFill>
                  <a:srgbClr val="94A3B8"/>
                </a:solidFill>
                <a:latin typeface="Arial"/>
              </a:rPr>
              <a:t> Cerrar vectores innecesarios, reducir la superficie de ataque y fortalecer la autenticación y permisos.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932688" y="5184648"/>
            <a:ext cx="2935224" cy="1133856"/>
          </a:xfrm>
          <a:prstGeom prst="roundRect">
            <a:avLst/>
          </a:prstGeom>
          <a:solidFill>
            <a:srgbClr val="0B162C"/>
          </a:solidFill>
          <a:ln w="1905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1024128" y="5257800"/>
            <a:ext cx="2221992" cy="182880"/>
          </a:xfrm>
          <a:prstGeom prst="roundRect">
            <a:avLst/>
          </a:prstGeom>
          <a:solidFill>
            <a:srgbClr val="142A50"/>
          </a:solidFill>
          <a:ln w="9525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" rIns="45720" tIns="0" bIns="0"/>
          <a:lstStyle/>
          <a:p>
            <a:pPr algn="ctr"/>
            <a:r>
              <a:rPr sz="700" b="1">
                <a:solidFill>
                  <a:srgbClr val="38BDF8"/>
                </a:solidFill>
                <a:latin typeface="Consolas"/>
              </a:rPr>
              <a:t>⚡ PRINCIPIO DEFENSIVO BÁSICO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42416" y="5458968"/>
            <a:ext cx="2715768" cy="822960"/>
          </a:xfrm>
          <a:prstGeom prst="rect">
            <a:avLst/>
          </a:prstGeom>
          <a:noFill/>
        </p:spPr>
        <p:txBody>
          <a:bodyPr wrap="square" lIns="0" tIns="0" bIns="0" rIns="0">
            <a:spAutoFit/>
          </a:bodyPr>
          <a:lstStyle/>
          <a:p>
            <a:pPr>
              <a:spcAft>
                <a:spcPts val="200"/>
              </a:spcAft>
            </a:pPr>
            <a:r>
              <a:rPr sz="800" i="1">
                <a:solidFill>
                  <a:srgbClr val="64748B"/>
                </a:solidFill>
                <a:latin typeface="Consolas"/>
              </a:rPr>
              <a:t># Un sistema no configurado expone:</a:t>
            </a:r>
          </a:p>
          <a:p>
            <a:pPr>
              <a:spcAft>
                <a:spcPts val="200"/>
              </a:spcAft>
            </a:pPr>
            <a:r>
              <a:rPr sz="850">
                <a:solidFill>
                  <a:srgbClr val="38BDF8"/>
                </a:solidFill>
                <a:latin typeface="Consolas"/>
              </a:rPr>
              <a:t>• Conexiones no cifradas en la red</a:t>
            </a:r>
          </a:p>
          <a:p>
            <a:pPr>
              <a:spcAft>
                <a:spcPts val="200"/>
              </a:spcAft>
            </a:pPr>
            <a:r>
              <a:rPr sz="850">
                <a:solidFill>
                  <a:srgbClr val="38BDF8"/>
                </a:solidFill>
                <a:latin typeface="Consolas"/>
              </a:rPr>
              <a:t>• Usuarios con privilegios excesivos</a:t>
            </a:r>
          </a:p>
          <a:p>
            <a:pPr>
              <a:spcAft>
                <a:spcPts val="200"/>
              </a:spcAft>
            </a:pPr>
            <a:r>
              <a:rPr sz="850">
                <a:solidFill>
                  <a:srgbClr val="38BDF8"/>
                </a:solidFill>
                <a:latin typeface="Consolas"/>
              </a:rPr>
              <a:t>• Falta de registros de auditoría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32688" y="6135624"/>
            <a:ext cx="2935224" cy="256032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r>
              <a:rPr sz="800" b="1">
                <a:solidFill>
                  <a:srgbClr val="10B981"/>
                </a:solidFill>
                <a:latin typeface="Arial"/>
              </a:rPr>
              <a:t>● REFERENCIA: INCIBE (2023)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416552" y="1572768"/>
            <a:ext cx="3337560" cy="4892040"/>
          </a:xfrm>
          <a:prstGeom prst="roundRect">
            <a:avLst/>
          </a:prstGeom>
          <a:solidFill>
            <a:srgbClr val="141C30"/>
          </a:solidFill>
          <a:ln w="19050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617720" y="1737360"/>
            <a:ext cx="2935224" cy="31546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</a:pPr>
            <a:r>
              <a:rPr sz="1200" b="1">
                <a:solidFill>
                  <a:srgbClr val="38BDF8"/>
                </a:solidFill>
                <a:latin typeface="Arial"/>
              </a:rPr>
              <a:t>🐘 Elección de PostgreSQL 16</a:t>
            </a:r>
          </a:p>
          <a:p>
            <a:pPr>
              <a:lnSpc>
                <a:spcPct val="115000"/>
              </a:lnSpc>
              <a:spcAft>
                <a:spcPts val="500"/>
              </a:spcAft>
            </a:pPr>
            <a:r>
              <a:rPr sz="900" b="1">
                <a:solidFill>
                  <a:srgbClr val="38BDF8"/>
                </a:solidFill>
                <a:latin typeface="Arial"/>
              </a:rPr>
              <a:t>•  </a:t>
            </a:r>
            <a:r>
              <a:rPr sz="900" b="1">
                <a:solidFill>
                  <a:srgbClr val="FFFFFF"/>
                </a:solidFill>
                <a:latin typeface="Arial"/>
              </a:rPr>
              <a:t>Robustez y Madurez:</a:t>
            </a:r>
            <a:r>
              <a:rPr sz="850">
                <a:solidFill>
                  <a:srgbClr val="94A3B8"/>
                </a:solidFill>
                <a:latin typeface="Arial"/>
              </a:rPr>
              <a:t> Motor de base de datos relacional de código abierto ampliamente adoptado.</a:t>
            </a:r>
          </a:p>
          <a:p>
            <a:pPr>
              <a:lnSpc>
                <a:spcPct val="115000"/>
              </a:lnSpc>
              <a:spcAft>
                <a:spcPts val="500"/>
              </a:spcAft>
            </a:pPr>
            <a:r>
              <a:rPr sz="900" b="1">
                <a:solidFill>
                  <a:srgbClr val="38BDF8"/>
                </a:solidFill>
                <a:latin typeface="Arial"/>
              </a:rPr>
              <a:t>•  </a:t>
            </a:r>
            <a:r>
              <a:rPr sz="900" b="1">
                <a:solidFill>
                  <a:srgbClr val="FFFFFF"/>
                </a:solidFill>
                <a:latin typeface="Arial"/>
              </a:rPr>
              <a:t>Gestión Granular:</a:t>
            </a:r>
            <a:r>
              <a:rPr sz="850">
                <a:solidFill>
                  <a:srgbClr val="94A3B8"/>
                </a:solidFill>
                <a:latin typeface="Arial"/>
              </a:rPr>
              <a:t> Administración clara de roles independientes del sistema operativo.</a:t>
            </a:r>
          </a:p>
          <a:p>
            <a:pPr>
              <a:lnSpc>
                <a:spcPct val="115000"/>
              </a:lnSpc>
              <a:spcAft>
                <a:spcPts val="500"/>
              </a:spcAft>
            </a:pPr>
            <a:r>
              <a:rPr sz="900" b="1">
                <a:solidFill>
                  <a:srgbClr val="38BDF8"/>
                </a:solidFill>
                <a:latin typeface="Arial"/>
              </a:rPr>
              <a:t>•  </a:t>
            </a:r>
            <a:r>
              <a:rPr sz="900" b="1">
                <a:solidFill>
                  <a:srgbClr val="FFFFFF"/>
                </a:solidFill>
                <a:latin typeface="Arial"/>
              </a:rPr>
              <a:t>Control Fino de Red:</a:t>
            </a:r>
            <a:r>
              <a:rPr sz="850">
                <a:solidFill>
                  <a:srgbClr val="94A3B8"/>
                </a:solidFill>
                <a:latin typeface="Arial"/>
              </a:rPr>
              <a:t> Archivo pg_hba.conf para control de acceso basado en host.</a:t>
            </a:r>
          </a:p>
          <a:p>
            <a:pPr>
              <a:lnSpc>
                <a:spcPct val="115000"/>
              </a:lnSpc>
              <a:spcAft>
                <a:spcPts val="500"/>
              </a:spcAft>
            </a:pPr>
            <a:r>
              <a:rPr sz="900" b="1">
                <a:solidFill>
                  <a:srgbClr val="38BDF8"/>
                </a:solidFill>
                <a:latin typeface="Arial"/>
              </a:rPr>
              <a:t>•  </a:t>
            </a:r>
            <a:r>
              <a:rPr sz="900" b="1">
                <a:solidFill>
                  <a:srgbClr val="FFFFFF"/>
                </a:solidFill>
                <a:latin typeface="Arial"/>
              </a:rPr>
              <a:t>Criptografía Integrada:</a:t>
            </a:r>
            <a:r>
              <a:rPr sz="850">
                <a:solidFill>
                  <a:srgbClr val="94A3B8"/>
                </a:solidFill>
                <a:latin typeface="Arial"/>
              </a:rPr>
              <a:t> Soporte nativo para SCRAM-SHA-256 y cifrado TLS/SSL.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617720" y="5184648"/>
            <a:ext cx="2935224" cy="1133856"/>
          </a:xfrm>
          <a:prstGeom prst="roundRect">
            <a:avLst/>
          </a:prstGeom>
          <a:solidFill>
            <a:srgbClr val="0B162C"/>
          </a:solidFill>
          <a:ln w="1905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4709160" y="5257800"/>
            <a:ext cx="2807208" cy="182880"/>
          </a:xfrm>
          <a:prstGeom prst="roundRect">
            <a:avLst/>
          </a:prstGeom>
          <a:solidFill>
            <a:srgbClr val="142A50"/>
          </a:solidFill>
          <a:ln w="9525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" rIns="45720" tIns="0" bIns="0"/>
          <a:lstStyle/>
          <a:p>
            <a:pPr algn="ctr"/>
            <a:r>
              <a:rPr sz="700" b="1">
                <a:solidFill>
                  <a:srgbClr val="38BDF8"/>
                </a:solidFill>
                <a:latin typeface="Consolas"/>
              </a:rPr>
              <a:t>⚡ CARACTERÍSTICAS EVALUADAS EN PG 16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727448" y="5458968"/>
            <a:ext cx="2715768" cy="822960"/>
          </a:xfrm>
          <a:prstGeom prst="rect">
            <a:avLst/>
          </a:prstGeom>
          <a:noFill/>
        </p:spPr>
        <p:txBody>
          <a:bodyPr wrap="square" lIns="0" tIns="0" bIns="0" rIns="0">
            <a:spAutoFit/>
          </a:bodyPr>
          <a:lstStyle/>
          <a:p>
            <a:pPr>
              <a:spcAft>
                <a:spcPts val="200"/>
              </a:spcAft>
            </a:pPr>
            <a:r>
              <a:rPr sz="850" b="1">
                <a:solidFill>
                  <a:srgbClr val="38BDF8"/>
                </a:solidFill>
                <a:latin typeface="Consolas"/>
              </a:rPr>
              <a:t>password_encryption =</a:t>
            </a:r>
            <a:r>
              <a:rPr sz="850">
                <a:solidFill>
                  <a:srgbClr val="D8B4FE"/>
                </a:solidFill>
                <a:latin typeface="Consolas"/>
              </a:rPr>
              <a:t> scram-sha-256</a:t>
            </a:r>
          </a:p>
          <a:p>
            <a:pPr>
              <a:spcAft>
                <a:spcPts val="200"/>
              </a:spcAft>
            </a:pPr>
            <a:r>
              <a:rPr sz="850">
                <a:solidFill>
                  <a:srgbClr val="38BDF8"/>
                </a:solidFill>
                <a:latin typeface="Consolas"/>
              </a:rPr>
              <a:t>pg_hba.conf host-based authentication</a:t>
            </a:r>
          </a:p>
          <a:p>
            <a:pPr>
              <a:spcAft>
                <a:spcPts val="200"/>
              </a:spcAft>
            </a:pPr>
            <a:r>
              <a:rPr sz="850">
                <a:solidFill>
                  <a:srgbClr val="38BDF8"/>
                </a:solidFill>
                <a:latin typeface="Consolas"/>
              </a:rPr>
              <a:t>Roles NOLOGIN para mínimo privilegio</a:t>
            </a:r>
          </a:p>
          <a:p>
            <a:pPr>
              <a:spcAft>
                <a:spcPts val="200"/>
              </a:spcAft>
            </a:pPr>
            <a:r>
              <a:rPr sz="850" b="1">
                <a:solidFill>
                  <a:srgbClr val="38BDF8"/>
                </a:solidFill>
                <a:latin typeface="Consolas"/>
              </a:rPr>
              <a:t>ssl =</a:t>
            </a:r>
            <a:r>
              <a:rPr sz="850">
                <a:solidFill>
                  <a:srgbClr val="D8B4FE"/>
                </a:solidFill>
                <a:latin typeface="Consolas"/>
              </a:rPr>
              <a:t> on con cifrado X.509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617720" y="6135624"/>
            <a:ext cx="2935224" cy="256032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r>
              <a:rPr sz="800" b="1">
                <a:solidFill>
                  <a:srgbClr val="38BDF8"/>
                </a:solidFill>
                <a:latin typeface="Arial"/>
              </a:rPr>
              <a:t>● MOTOR: POSTGRESQL 16 LTS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101583" y="1572768"/>
            <a:ext cx="3337560" cy="4892040"/>
          </a:xfrm>
          <a:prstGeom prst="roundRect">
            <a:avLst/>
          </a:prstGeom>
          <a:solidFill>
            <a:srgbClr val="101524"/>
          </a:solidFill>
          <a:ln w="12700">
            <a:solidFill>
              <a:srgbClr val="232D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302751" y="1737360"/>
            <a:ext cx="2935224" cy="31546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</a:pPr>
            <a:r>
              <a:rPr sz="1200" b="1">
                <a:solidFill>
                  <a:srgbClr val="FFFFFF"/>
                </a:solidFill>
                <a:latin typeface="Arial"/>
              </a:rPr>
              <a:t>🐧 Selección de Ubuntu Server 24.04</a:t>
            </a:r>
          </a:p>
          <a:p>
            <a:pPr>
              <a:lnSpc>
                <a:spcPct val="115000"/>
              </a:lnSpc>
              <a:spcAft>
                <a:spcPts val="500"/>
              </a:spcAft>
            </a:pPr>
            <a:r>
              <a:rPr sz="900" b="1">
                <a:solidFill>
                  <a:srgbClr val="3B82F6"/>
                </a:solidFill>
                <a:latin typeface="Arial"/>
              </a:rPr>
              <a:t>•  </a:t>
            </a:r>
            <a:r>
              <a:rPr sz="900" b="1">
                <a:solidFill>
                  <a:srgbClr val="FFFFFF"/>
                </a:solidFill>
                <a:latin typeface="Arial"/>
              </a:rPr>
              <a:t>Plataforma LTS:</a:t>
            </a:r>
            <a:r>
              <a:rPr sz="850">
                <a:solidFill>
                  <a:srgbClr val="94A3B8"/>
                </a:solidFill>
                <a:latin typeface="Arial"/>
              </a:rPr>
              <a:t> Estabilidad y soporte a largo plazo para servidores.</a:t>
            </a:r>
          </a:p>
          <a:p>
            <a:pPr>
              <a:lnSpc>
                <a:spcPct val="115000"/>
              </a:lnSpc>
              <a:spcAft>
                <a:spcPts val="500"/>
              </a:spcAft>
            </a:pPr>
            <a:r>
              <a:rPr sz="900" b="1">
                <a:solidFill>
                  <a:srgbClr val="3B82F6"/>
                </a:solidFill>
                <a:latin typeface="Arial"/>
              </a:rPr>
              <a:t>•  </a:t>
            </a:r>
            <a:r>
              <a:rPr sz="900" b="1">
                <a:solidFill>
                  <a:srgbClr val="FFFFFF"/>
                </a:solidFill>
                <a:latin typeface="Arial"/>
              </a:rPr>
              <a:t>Seguridad en Capas (Canonical 2026):</a:t>
            </a:r>
            <a:r>
              <a:rPr sz="850">
                <a:solidFill>
                  <a:srgbClr val="94A3B8"/>
                </a:solidFill>
                <a:latin typeface="Arial"/>
              </a:rPr>
              <a:t> Aislamiento de usuarios, firewall de red y ciclo de actualizaciones constante.</a:t>
            </a:r>
          </a:p>
          <a:p>
            <a:pPr>
              <a:lnSpc>
                <a:spcPct val="115000"/>
              </a:lnSpc>
              <a:spcAft>
                <a:spcPts val="500"/>
              </a:spcAft>
            </a:pPr>
            <a:r>
              <a:rPr sz="900" b="1">
                <a:solidFill>
                  <a:srgbClr val="3B82F6"/>
                </a:solidFill>
                <a:latin typeface="Arial"/>
              </a:rPr>
              <a:t>•  </a:t>
            </a:r>
            <a:r>
              <a:rPr sz="900" b="1">
                <a:solidFill>
                  <a:srgbClr val="FFFFFF"/>
                </a:solidFill>
                <a:latin typeface="Arial"/>
              </a:rPr>
              <a:t>Integración con Systemd:</a:t>
            </a:r>
            <a:r>
              <a:rPr sz="850">
                <a:solidFill>
                  <a:srgbClr val="94A3B8"/>
                </a:solidFill>
                <a:latin typeface="Arial"/>
              </a:rPr>
              <a:t> Control de estado del servicio y gestión de procesos del motor.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302751" y="5184648"/>
            <a:ext cx="2935224" cy="1133856"/>
          </a:xfrm>
          <a:prstGeom prst="roundRect">
            <a:avLst/>
          </a:prstGeom>
          <a:solidFill>
            <a:srgbClr val="0B162C"/>
          </a:solidFill>
          <a:ln w="1905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8394191" y="5257800"/>
            <a:ext cx="2660904" cy="182880"/>
          </a:xfrm>
          <a:prstGeom prst="roundRect">
            <a:avLst/>
          </a:prstGeom>
          <a:solidFill>
            <a:srgbClr val="142A50"/>
          </a:solidFill>
          <a:ln w="9525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" rIns="45720" tIns="0" bIns="0"/>
          <a:lstStyle/>
          <a:p>
            <a:pPr algn="ctr"/>
            <a:r>
              <a:rPr sz="700" b="1">
                <a:solidFill>
                  <a:srgbClr val="38BDF8"/>
                </a:solidFill>
                <a:latin typeface="Consolas"/>
              </a:rPr>
              <a:t>⚡ VERIFICACIÓN DE VERSIÓN Y ESTADO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412479" y="5458968"/>
            <a:ext cx="2715768" cy="822960"/>
          </a:xfrm>
          <a:prstGeom prst="rect">
            <a:avLst/>
          </a:prstGeom>
          <a:noFill/>
        </p:spPr>
        <p:txBody>
          <a:bodyPr wrap="square" lIns="0" tIns="0" bIns="0" rIns="0">
            <a:spAutoFit/>
          </a:bodyPr>
          <a:lstStyle/>
          <a:p>
            <a:pPr>
              <a:spcAft>
                <a:spcPts val="200"/>
              </a:spcAft>
            </a:pPr>
            <a:r>
              <a:rPr sz="850" b="1">
                <a:solidFill>
                  <a:srgbClr val="34D399"/>
                </a:solidFill>
                <a:latin typeface="Consolas"/>
              </a:rPr>
              <a:t>$ </a:t>
            </a:r>
            <a:r>
              <a:rPr sz="850" b="1">
                <a:solidFill>
                  <a:srgbClr val="FFFFFF"/>
                </a:solidFill>
                <a:latin typeface="Consolas"/>
              </a:rPr>
              <a:t>lsb_release -d</a:t>
            </a:r>
          </a:p>
          <a:p>
            <a:pPr>
              <a:spcAft>
                <a:spcPts val="200"/>
              </a:spcAft>
            </a:pPr>
            <a:r>
              <a:rPr sz="850">
                <a:solidFill>
                  <a:srgbClr val="38BDF8"/>
                </a:solidFill>
                <a:latin typeface="Consolas"/>
              </a:rPr>
              <a:t>  Description: Ubuntu 24.04 LTS</a:t>
            </a:r>
          </a:p>
          <a:p>
            <a:pPr>
              <a:spcAft>
                <a:spcPts val="200"/>
              </a:spcAft>
            </a:pPr>
            <a:r>
              <a:rPr sz="850" b="1">
                <a:solidFill>
                  <a:srgbClr val="34D399"/>
                </a:solidFill>
                <a:latin typeface="Consolas"/>
              </a:rPr>
              <a:t>$ </a:t>
            </a:r>
            <a:r>
              <a:rPr sz="850" b="1">
                <a:solidFill>
                  <a:srgbClr val="FFFFFF"/>
                </a:solidFill>
                <a:latin typeface="Consolas"/>
              </a:rPr>
              <a:t>sudo systemctl is-active postgresql</a:t>
            </a:r>
          </a:p>
          <a:p>
            <a:pPr>
              <a:spcAft>
                <a:spcPts val="200"/>
              </a:spcAft>
            </a:pPr>
            <a:r>
              <a:rPr sz="850">
                <a:solidFill>
                  <a:srgbClr val="38BDF8"/>
                </a:solidFill>
                <a:latin typeface="Consolas"/>
              </a:rPr>
              <a:t>  active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302751" y="6135624"/>
            <a:ext cx="2935224" cy="256032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r>
              <a:rPr sz="800" b="1">
                <a:solidFill>
                  <a:srgbClr val="3B82F6"/>
                </a:solidFill>
                <a:latin typeface="Arial"/>
              </a:rPr>
              <a:t>● SISTEMA: UBUNTU SERVER 24.04</a:t>
            </a:r>
          </a:p>
        </p:txBody>
      </p:sp>
    </p:spTree>
  </p:cSld>
  <p:transition spd="med">
    <p:wipe dir="r"/>
  </p:transition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90C1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347472"/>
            <a:ext cx="3744468" cy="274320"/>
          </a:xfrm>
          <a:prstGeom prst="roundRect">
            <a:avLst/>
          </a:prstGeom>
          <a:solidFill>
            <a:srgbClr val="121C34"/>
          </a:solidFill>
          <a:ln w="12700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18288" bIns="18288"/>
          <a:lstStyle/>
          <a:p>
            <a:pPr algn="ctr"/>
            <a:r>
              <a:rPr sz="850" b="1">
                <a:solidFill>
                  <a:srgbClr val="38BDF8"/>
                </a:solidFill>
                <a:latin typeface="Arial"/>
              </a:rPr>
              <a:t>●  SECCIÓN 2 // PARÁMETROS DEL LABORATORIO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601200" y="347472"/>
            <a:ext cx="1828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50" b="1">
                <a:solidFill>
                  <a:srgbClr val="64748B"/>
                </a:solidFill>
                <a:latin typeface="Consolas"/>
              </a:rPr>
              <a:t>SLIDE 04 / 14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676656"/>
            <a:ext cx="10698480" cy="438912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r>
              <a:rPr sz="2000" b="1">
                <a:solidFill>
                  <a:srgbClr val="FFFFFF"/>
                </a:solidFill>
                <a:latin typeface="Arial"/>
              </a:rPr>
              <a:t>Objetivo y Entorno Controlado de la Práctica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133856"/>
            <a:ext cx="10698480" cy="292608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r>
              <a:rPr sz="1050">
                <a:solidFill>
                  <a:srgbClr val="94A3B8"/>
                </a:solidFill>
                <a:latin typeface="Arial"/>
              </a:rPr>
              <a:t>Parámetros del entorno de pruebas, guías de referencia y delimitación del alcance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572768"/>
            <a:ext cx="5166360" cy="4892040"/>
          </a:xfrm>
          <a:prstGeom prst="roundRect">
            <a:avLst/>
          </a:prstGeom>
          <a:solidFill>
            <a:srgbClr val="141C30"/>
          </a:solidFill>
          <a:ln w="19050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32688" y="1737360"/>
            <a:ext cx="4764024" cy="31546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</a:pPr>
            <a:r>
              <a:rPr sz="1200" b="1">
                <a:solidFill>
                  <a:srgbClr val="38BDF8"/>
                </a:solidFill>
                <a:latin typeface="Arial"/>
              </a:rPr>
              <a:t>📊 Cuadro Resumen del Entorno (Tabla del Informe)</a:t>
            </a:r>
          </a:p>
          <a:p>
            <a:pPr>
              <a:lnSpc>
                <a:spcPct val="115000"/>
              </a:lnSpc>
              <a:spcAft>
                <a:spcPts val="500"/>
              </a:spcAft>
            </a:pPr>
            <a:r>
              <a:rPr sz="900" b="1">
                <a:solidFill>
                  <a:srgbClr val="38BDF8"/>
                </a:solidFill>
                <a:latin typeface="Arial"/>
              </a:rPr>
              <a:t>•  </a:t>
            </a:r>
            <a:r>
              <a:rPr sz="900" b="1">
                <a:solidFill>
                  <a:srgbClr val="FFFFFF"/>
                </a:solidFill>
                <a:latin typeface="Arial"/>
              </a:rPr>
              <a:t>SGBD:</a:t>
            </a:r>
            <a:r>
              <a:rPr sz="850">
                <a:solidFill>
                  <a:srgbClr val="94A3B8"/>
                </a:solidFill>
                <a:latin typeface="Arial"/>
              </a:rPr>
              <a:t> PostgreSQL 16 instalado y configurado.</a:t>
            </a:r>
          </a:p>
          <a:p>
            <a:pPr>
              <a:lnSpc>
                <a:spcPct val="115000"/>
              </a:lnSpc>
              <a:spcAft>
                <a:spcPts val="500"/>
              </a:spcAft>
            </a:pPr>
            <a:r>
              <a:rPr sz="900" b="1">
                <a:solidFill>
                  <a:srgbClr val="38BDF8"/>
                </a:solidFill>
                <a:latin typeface="Arial"/>
              </a:rPr>
              <a:t>•  </a:t>
            </a:r>
            <a:r>
              <a:rPr sz="900" b="1">
                <a:solidFill>
                  <a:srgbClr val="FFFFFF"/>
                </a:solidFill>
                <a:latin typeface="Arial"/>
              </a:rPr>
              <a:t>Sistema Operativo:</a:t>
            </a:r>
            <a:r>
              <a:rPr sz="850">
                <a:solidFill>
                  <a:srgbClr val="94A3B8"/>
                </a:solidFill>
                <a:latin typeface="Arial"/>
              </a:rPr>
              <a:t> Ubuntu Server 24.04 LTS (instalación limpia).</a:t>
            </a:r>
          </a:p>
          <a:p>
            <a:pPr>
              <a:lnSpc>
                <a:spcPct val="115000"/>
              </a:lnSpc>
              <a:spcAft>
                <a:spcPts val="500"/>
              </a:spcAft>
            </a:pPr>
            <a:r>
              <a:rPr sz="900" b="1">
                <a:solidFill>
                  <a:srgbClr val="38BDF8"/>
                </a:solidFill>
                <a:latin typeface="Arial"/>
              </a:rPr>
              <a:t>•  </a:t>
            </a:r>
            <a:r>
              <a:rPr sz="900" b="1">
                <a:solidFill>
                  <a:srgbClr val="FFFFFF"/>
                </a:solidFill>
                <a:latin typeface="Arial"/>
              </a:rPr>
              <a:t>Tipo de Práctica:</a:t>
            </a:r>
            <a:r>
              <a:rPr sz="850">
                <a:solidFill>
                  <a:srgbClr val="94A3B8"/>
                </a:solidFill>
                <a:latin typeface="Arial"/>
              </a:rPr>
              <a:t> Entorno académico / laboratorio de sistemas.</a:t>
            </a:r>
          </a:p>
          <a:p>
            <a:pPr>
              <a:lnSpc>
                <a:spcPct val="115000"/>
              </a:lnSpc>
              <a:spcAft>
                <a:spcPts val="500"/>
              </a:spcAft>
            </a:pPr>
            <a:r>
              <a:rPr sz="900" b="1">
                <a:solidFill>
                  <a:srgbClr val="38BDF8"/>
                </a:solidFill>
                <a:latin typeface="Arial"/>
              </a:rPr>
              <a:t>•  </a:t>
            </a:r>
            <a:r>
              <a:rPr sz="900" b="1">
                <a:solidFill>
                  <a:srgbClr val="FFFFFF"/>
                </a:solidFill>
                <a:latin typeface="Arial"/>
              </a:rPr>
              <a:t>Objetivo de Seguridad:</a:t>
            </a:r>
            <a:r>
              <a:rPr sz="850">
                <a:solidFill>
                  <a:srgbClr val="94A3B8"/>
                </a:solidFill>
                <a:latin typeface="Arial"/>
              </a:rPr>
              <a:t> Reducir accesos innecesarios y aplicar controles básicos.</a:t>
            </a:r>
          </a:p>
          <a:p>
            <a:pPr>
              <a:lnSpc>
                <a:spcPct val="115000"/>
              </a:lnSpc>
              <a:spcAft>
                <a:spcPts val="500"/>
              </a:spcAft>
            </a:pPr>
            <a:r>
              <a:rPr sz="900" b="1">
                <a:solidFill>
                  <a:srgbClr val="38BDF8"/>
                </a:solidFill>
                <a:latin typeface="Arial"/>
              </a:rPr>
              <a:t>•  </a:t>
            </a:r>
            <a:r>
              <a:rPr sz="900" b="1">
                <a:solidFill>
                  <a:srgbClr val="FFFFFF"/>
                </a:solidFill>
                <a:latin typeface="Arial"/>
              </a:rPr>
              <a:t>Principales Medidas:</a:t>
            </a:r>
            <a:r>
              <a:rPr sz="850">
                <a:solidFill>
                  <a:srgbClr val="94A3B8"/>
                </a:solidFill>
                <a:latin typeface="Arial"/>
              </a:rPr>
              <a:t> Actualizaciones, autenticación, permisos, TLS, registros y respaldo.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932688" y="5184648"/>
            <a:ext cx="4764024" cy="1133856"/>
          </a:xfrm>
          <a:prstGeom prst="roundRect">
            <a:avLst/>
          </a:prstGeom>
          <a:solidFill>
            <a:srgbClr val="0B162C"/>
          </a:solidFill>
          <a:ln w="1905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1024128" y="5257800"/>
            <a:ext cx="3108960" cy="182880"/>
          </a:xfrm>
          <a:prstGeom prst="roundRect">
            <a:avLst/>
          </a:prstGeom>
          <a:solidFill>
            <a:srgbClr val="142A50"/>
          </a:solidFill>
          <a:ln w="9525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" rIns="45720" tIns="0" bIns="0"/>
          <a:lstStyle/>
          <a:p>
            <a:pPr algn="ctr"/>
            <a:r>
              <a:rPr sz="700" b="1">
                <a:solidFill>
                  <a:srgbClr val="38BDF8"/>
                </a:solidFill>
                <a:latin typeface="Consolas"/>
              </a:rPr>
              <a:t>⚡ TABLA: ELEMENTOS Y DESCRIPCIÓN DEL LABORATORIO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42416" y="5458968"/>
            <a:ext cx="4544568" cy="822960"/>
          </a:xfrm>
          <a:prstGeom prst="rect">
            <a:avLst/>
          </a:prstGeom>
          <a:noFill/>
        </p:spPr>
        <p:txBody>
          <a:bodyPr wrap="square" lIns="0" tIns="0" bIns="0" rIns="0">
            <a:spAutoFit/>
          </a:bodyPr>
          <a:lstStyle/>
          <a:p>
            <a:pPr>
              <a:spcAft>
                <a:spcPts val="200"/>
              </a:spcAft>
            </a:pPr>
            <a:r>
              <a:rPr sz="850">
                <a:solidFill>
                  <a:srgbClr val="38BDF8"/>
                </a:solidFill>
                <a:latin typeface="Consolas"/>
              </a:rPr>
              <a:t>SGBD             | PostgreSQL 16</a:t>
            </a:r>
          </a:p>
          <a:p>
            <a:pPr>
              <a:spcAft>
                <a:spcPts val="200"/>
              </a:spcAft>
            </a:pPr>
            <a:r>
              <a:rPr sz="850">
                <a:solidFill>
                  <a:srgbClr val="38BDF8"/>
                </a:solidFill>
                <a:latin typeface="Consolas"/>
              </a:rPr>
              <a:t>Sistema Operativo| Ubuntu Server 24.04 LTS</a:t>
            </a:r>
          </a:p>
          <a:p>
            <a:pPr>
              <a:spcAft>
                <a:spcPts val="200"/>
              </a:spcAft>
            </a:pPr>
            <a:r>
              <a:rPr sz="850">
                <a:solidFill>
                  <a:srgbClr val="38BDF8"/>
                </a:solidFill>
                <a:latin typeface="Consolas"/>
              </a:rPr>
              <a:t>Tipo de Práctica | Entorno académico / laboratorio</a:t>
            </a:r>
          </a:p>
          <a:p>
            <a:pPr>
              <a:spcAft>
                <a:spcPts val="200"/>
              </a:spcAft>
            </a:pPr>
            <a:r>
              <a:rPr sz="850">
                <a:solidFill>
                  <a:srgbClr val="38BDF8"/>
                </a:solidFill>
                <a:latin typeface="Consolas"/>
              </a:rPr>
              <a:t>Objetivo         | Reducir accesos innecesarios</a:t>
            </a:r>
          </a:p>
          <a:p>
            <a:pPr>
              <a:spcAft>
                <a:spcPts val="200"/>
              </a:spcAft>
            </a:pPr>
            <a:r>
              <a:rPr sz="850">
                <a:solidFill>
                  <a:srgbClr val="38BDF8"/>
                </a:solidFill>
                <a:latin typeface="Consolas"/>
              </a:rPr>
              <a:t>Medidas Clave    | Actualización, Auth, Roles, TLS, Logs, Backup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32688" y="6135624"/>
            <a:ext cx="4764024" cy="256032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r>
              <a:rPr sz="800" b="1">
                <a:solidFill>
                  <a:srgbClr val="10B981"/>
                </a:solidFill>
                <a:latin typeface="Arial"/>
              </a:rPr>
              <a:t>● TABLA OFICIAL: SECCIÓN 2 DEL INFORME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291072" y="1572768"/>
            <a:ext cx="5166360" cy="4892040"/>
          </a:xfrm>
          <a:prstGeom prst="roundRect">
            <a:avLst/>
          </a:prstGeom>
          <a:solidFill>
            <a:srgbClr val="101524"/>
          </a:solidFill>
          <a:ln w="12700">
            <a:solidFill>
              <a:srgbClr val="232D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92240" y="1737360"/>
            <a:ext cx="4764024" cy="31546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</a:pPr>
            <a:r>
              <a:rPr sz="1200" b="1">
                <a:solidFill>
                  <a:srgbClr val="FFFFFF"/>
                </a:solidFill>
                <a:latin typeface="Arial"/>
              </a:rPr>
              <a:t>📚 Marcos de Referencia Metodológica</a:t>
            </a:r>
          </a:p>
          <a:p>
            <a:pPr>
              <a:lnSpc>
                <a:spcPct val="115000"/>
              </a:lnSpc>
              <a:spcAft>
                <a:spcPts val="500"/>
              </a:spcAft>
            </a:pPr>
            <a:r>
              <a:rPr sz="900" b="1">
                <a:solidFill>
                  <a:srgbClr val="3B82F6"/>
                </a:solidFill>
                <a:latin typeface="Arial"/>
              </a:rPr>
              <a:t>•  </a:t>
            </a:r>
            <a:r>
              <a:rPr sz="900" b="1">
                <a:solidFill>
                  <a:srgbClr val="FFFFFF"/>
                </a:solidFill>
                <a:latin typeface="Arial"/>
              </a:rPr>
              <a:t>Documentación Oficial de PostgreSQL:</a:t>
            </a:r>
            <a:r>
              <a:rPr sz="850">
                <a:solidFill>
                  <a:srgbClr val="94A3B8"/>
                </a:solidFill>
                <a:latin typeface="Arial"/>
              </a:rPr>
              <a:t> Capítulos 21 (Autenticación), 22 (Roles) y 19.9 (SSL).</a:t>
            </a:r>
          </a:p>
          <a:p>
            <a:pPr>
              <a:lnSpc>
                <a:spcPct val="115000"/>
              </a:lnSpc>
              <a:spcAft>
                <a:spcPts val="500"/>
              </a:spcAft>
            </a:pPr>
            <a:r>
              <a:rPr sz="900" b="1">
                <a:solidFill>
                  <a:srgbClr val="3B82F6"/>
                </a:solidFill>
                <a:latin typeface="Arial"/>
              </a:rPr>
              <a:t>•  </a:t>
            </a:r>
            <a:r>
              <a:rPr sz="900" b="1">
                <a:solidFill>
                  <a:srgbClr val="FFFFFF"/>
                </a:solidFill>
                <a:latin typeface="Arial"/>
              </a:rPr>
              <a:t>Recomendaciones de Seguridad de Ubuntu:</a:t>
            </a:r>
            <a:r>
              <a:rPr sz="850">
                <a:solidFill>
                  <a:srgbClr val="94A3B8"/>
                </a:solidFill>
                <a:latin typeface="Arial"/>
              </a:rPr>
              <a:t> Documentación oficial de Canonical (2026).</a:t>
            </a:r>
          </a:p>
          <a:p>
            <a:pPr>
              <a:lnSpc>
                <a:spcPct val="115000"/>
              </a:lnSpc>
              <a:spcAft>
                <a:spcPts val="500"/>
              </a:spcAft>
            </a:pPr>
            <a:r>
              <a:rPr sz="900" b="1">
                <a:solidFill>
                  <a:srgbClr val="3B82F6"/>
                </a:solidFill>
                <a:latin typeface="Arial"/>
              </a:rPr>
              <a:t>•  </a:t>
            </a:r>
            <a:r>
              <a:rPr sz="900" b="1">
                <a:solidFill>
                  <a:srgbClr val="FFFFFF"/>
                </a:solidFill>
                <a:latin typeface="Arial"/>
              </a:rPr>
              <a:t>Material Técnico de INCIBE (2023):</a:t>
            </a:r>
            <a:r>
              <a:rPr sz="850">
                <a:solidFill>
                  <a:srgbClr val="94A3B8"/>
                </a:solidFill>
                <a:latin typeface="Arial"/>
              </a:rPr>
              <a:t> Guías de bastionado de sistemas Linux.</a:t>
            </a:r>
          </a:p>
          <a:p>
            <a:pPr>
              <a:lnSpc>
                <a:spcPct val="115000"/>
              </a:lnSpc>
              <a:spcAft>
                <a:spcPts val="500"/>
              </a:spcAft>
            </a:pPr>
            <a:r>
              <a:rPr sz="900" b="1">
                <a:solidFill>
                  <a:srgbClr val="3B82F6"/>
                </a:solidFill>
                <a:latin typeface="Arial"/>
              </a:rPr>
              <a:t>•  </a:t>
            </a:r>
            <a:r>
              <a:rPr sz="900" b="1">
                <a:solidFill>
                  <a:srgbClr val="FFFFFF"/>
                </a:solidFill>
                <a:latin typeface="Arial"/>
              </a:rPr>
              <a:t>CIS Benchmarks:</a:t>
            </a:r>
            <a:r>
              <a:rPr sz="850">
                <a:solidFill>
                  <a:srgbClr val="94A3B8"/>
                </a:solidFill>
                <a:latin typeface="Arial"/>
              </a:rPr>
              <a:t> Utilizados como guía de referencia de buenas prácticas.</a:t>
            </a:r>
          </a:p>
          <a:p>
            <a:pPr>
              <a:lnSpc>
                <a:spcPct val="115000"/>
              </a:lnSpc>
              <a:spcAft>
                <a:spcPts val="500"/>
              </a:spcAft>
            </a:pPr>
            <a:r>
              <a:rPr sz="900" b="1">
                <a:solidFill>
                  <a:srgbClr val="3B82F6"/>
                </a:solidFill>
                <a:latin typeface="Arial"/>
              </a:rPr>
              <a:t>•  </a:t>
            </a:r>
            <a:r>
              <a:rPr sz="900" b="1">
                <a:solidFill>
                  <a:srgbClr val="FFFFFF"/>
                </a:solidFill>
                <a:latin typeface="Arial"/>
              </a:rPr>
              <a:t>Delimitación Explícita:</a:t>
            </a:r>
            <a:r>
              <a:rPr sz="850">
                <a:solidFill>
                  <a:srgbClr val="94A3B8"/>
                </a:solidFill>
                <a:latin typeface="Arial"/>
              </a:rPr>
              <a:t> Sirven de guía, pero no se declara certificación formal.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492240" y="5184648"/>
            <a:ext cx="4764024" cy="1133856"/>
          </a:xfrm>
          <a:prstGeom prst="roundRect">
            <a:avLst/>
          </a:prstGeom>
          <a:solidFill>
            <a:srgbClr val="0B162C"/>
          </a:solidFill>
          <a:ln w="1905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6583680" y="5257800"/>
            <a:ext cx="2075688" cy="182880"/>
          </a:xfrm>
          <a:prstGeom prst="roundRect">
            <a:avLst/>
          </a:prstGeom>
          <a:solidFill>
            <a:srgbClr val="142A50"/>
          </a:solidFill>
          <a:ln w="9525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" rIns="45720" tIns="0" bIns="0"/>
          <a:lstStyle/>
          <a:p>
            <a:pPr algn="ctr"/>
            <a:r>
              <a:rPr sz="700" b="1">
                <a:solidFill>
                  <a:srgbClr val="38BDF8"/>
                </a:solidFill>
                <a:latin typeface="Consolas"/>
              </a:rPr>
              <a:t>⚡ DOCUMENTACIÓN CONSULTADA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601968" y="5458968"/>
            <a:ext cx="4544568" cy="822960"/>
          </a:xfrm>
          <a:prstGeom prst="rect">
            <a:avLst/>
          </a:prstGeom>
          <a:noFill/>
        </p:spPr>
        <p:txBody>
          <a:bodyPr wrap="square" lIns="0" tIns="0" bIns="0" rIns="0">
            <a:spAutoFit/>
          </a:bodyPr>
          <a:lstStyle/>
          <a:p>
            <a:pPr>
              <a:spcAft>
                <a:spcPts val="200"/>
              </a:spcAft>
            </a:pPr>
            <a:r>
              <a:rPr sz="850">
                <a:solidFill>
                  <a:srgbClr val="38BDF8"/>
                </a:solidFill>
                <a:latin typeface="Consolas"/>
              </a:rPr>
              <a:t>• PostgreSQL Client Authentication (cap. 21)</a:t>
            </a:r>
          </a:p>
          <a:p>
            <a:pPr>
              <a:spcAft>
                <a:spcPts val="200"/>
              </a:spcAft>
            </a:pPr>
            <a:r>
              <a:rPr sz="850">
                <a:solidFill>
                  <a:srgbClr val="38BDF8"/>
                </a:solidFill>
                <a:latin typeface="Consolas"/>
              </a:rPr>
              <a:t>• PostgreSQL Database Roles (cap. 22)</a:t>
            </a:r>
          </a:p>
          <a:p>
            <a:pPr>
              <a:spcAft>
                <a:spcPts val="200"/>
              </a:spcAft>
            </a:pPr>
            <a:r>
              <a:rPr sz="850">
                <a:solidFill>
                  <a:srgbClr val="38BDF8"/>
                </a:solidFill>
                <a:latin typeface="Consolas"/>
              </a:rPr>
              <a:t>• Ubuntu Server Security Guide (Canonical, 2026)</a:t>
            </a:r>
          </a:p>
          <a:p>
            <a:pPr>
              <a:spcAft>
                <a:spcPts val="200"/>
              </a:spcAft>
            </a:pPr>
            <a:r>
              <a:rPr sz="850">
                <a:solidFill>
                  <a:srgbClr val="38BDF8"/>
                </a:solidFill>
                <a:latin typeface="Consolas"/>
              </a:rPr>
              <a:t>• CIS PostgreSQL 16 Benchmark (Guía de referencia)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92240" y="6135624"/>
            <a:ext cx="4764024" cy="256032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r>
              <a:rPr sz="800" b="1">
                <a:solidFill>
                  <a:srgbClr val="38BDF8"/>
                </a:solidFill>
                <a:latin typeface="Arial"/>
              </a:rPr>
              <a:t>● REFERENCIAS TÉCNICAS VERIFICADAS</a:t>
            </a:r>
          </a:p>
        </p:txBody>
      </p:sp>
    </p:spTree>
  </p:cSld>
  <p:transition spd="med">
    <p:push dir="l"/>
  </p:transition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90C1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347472"/>
            <a:ext cx="3474720" cy="274320"/>
          </a:xfrm>
          <a:prstGeom prst="roundRect">
            <a:avLst/>
          </a:prstGeom>
          <a:solidFill>
            <a:srgbClr val="121C34"/>
          </a:solidFill>
          <a:ln w="12700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18288" bIns="18288"/>
          <a:lstStyle/>
          <a:p>
            <a:pPr algn="ctr"/>
            <a:r>
              <a:rPr sz="850" b="1">
                <a:solidFill>
                  <a:srgbClr val="38BDF8"/>
                </a:solidFill>
                <a:latin typeface="Arial"/>
              </a:rPr>
              <a:t>●  SECCIÓN 3 // PROCEDIMIENTO TÉCNICO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601200" y="347472"/>
            <a:ext cx="1828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50" b="1">
                <a:solidFill>
                  <a:srgbClr val="64748B"/>
                </a:solidFill>
                <a:latin typeface="Consolas"/>
              </a:rPr>
              <a:t>SLIDE 05 / 14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676656"/>
            <a:ext cx="10698480" cy="438912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r>
              <a:rPr sz="2000" b="1">
                <a:solidFill>
                  <a:srgbClr val="FFFFFF"/>
                </a:solidFill>
                <a:latin typeface="Arial"/>
              </a:rPr>
              <a:t>Instalación de PostgreSQL y Comprobación Inicial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133856"/>
            <a:ext cx="10698480" cy="292608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r>
              <a:rPr sz="1050">
                <a:solidFill>
                  <a:srgbClr val="94A3B8"/>
                </a:solidFill>
                <a:latin typeface="Arial"/>
              </a:rPr>
              <a:t>Aprovisionamiento de paquetes, verificación del servicio e ingreso inicial administrativo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572768"/>
            <a:ext cx="3337560" cy="4892040"/>
          </a:xfrm>
          <a:prstGeom prst="roundRect">
            <a:avLst/>
          </a:prstGeom>
          <a:solidFill>
            <a:srgbClr val="101524"/>
          </a:solidFill>
          <a:ln w="12700">
            <a:solidFill>
              <a:srgbClr val="232D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32688" y="1737360"/>
            <a:ext cx="2935224" cy="31546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</a:pPr>
            <a:r>
              <a:rPr sz="1200" b="1">
                <a:solidFill>
                  <a:srgbClr val="FFFFFF"/>
                </a:solidFill>
                <a:latin typeface="Arial"/>
              </a:rPr>
              <a:t>📦 Actualización e Instalación</a:t>
            </a:r>
          </a:p>
          <a:p>
            <a:pPr>
              <a:lnSpc>
                <a:spcPct val="115000"/>
              </a:lnSpc>
              <a:spcAft>
                <a:spcPts val="500"/>
              </a:spcAft>
            </a:pPr>
            <a:r>
              <a:rPr sz="900" b="1">
                <a:solidFill>
                  <a:srgbClr val="3B82F6"/>
                </a:solidFill>
                <a:latin typeface="Arial"/>
              </a:rPr>
              <a:t>•  </a:t>
            </a:r>
            <a:r>
              <a:rPr sz="900" b="1">
                <a:solidFill>
                  <a:srgbClr val="FFFFFF"/>
                </a:solidFill>
                <a:latin typeface="Arial"/>
              </a:rPr>
              <a:t>Medida Básica Inicial:</a:t>
            </a:r>
            <a:r>
              <a:rPr sz="850">
                <a:solidFill>
                  <a:srgbClr val="94A3B8"/>
                </a:solidFill>
                <a:latin typeface="Arial"/>
              </a:rPr>
              <a:t> Actualizar los índices de paquetes antes de instalar software.</a:t>
            </a:r>
          </a:p>
          <a:p>
            <a:pPr>
              <a:lnSpc>
                <a:spcPct val="115000"/>
              </a:lnSpc>
              <a:spcAft>
                <a:spcPts val="500"/>
              </a:spcAft>
            </a:pPr>
            <a:r>
              <a:rPr sz="900" b="1">
                <a:solidFill>
                  <a:srgbClr val="3B82F6"/>
                </a:solidFill>
                <a:latin typeface="Arial"/>
              </a:rPr>
              <a:t>•  </a:t>
            </a:r>
            <a:r>
              <a:rPr sz="900" b="1">
                <a:solidFill>
                  <a:srgbClr val="FFFFFF"/>
                </a:solidFill>
                <a:latin typeface="Arial"/>
              </a:rPr>
              <a:t>Paquete postgresql:</a:t>
            </a:r>
            <a:r>
              <a:rPr sz="850">
                <a:solidFill>
                  <a:srgbClr val="94A3B8"/>
                </a:solidFill>
                <a:latin typeface="Arial"/>
              </a:rPr>
              <a:t> Binarios del motor de base de datos.</a:t>
            </a:r>
          </a:p>
          <a:p>
            <a:pPr>
              <a:lnSpc>
                <a:spcPct val="115000"/>
              </a:lnSpc>
              <a:spcAft>
                <a:spcPts val="500"/>
              </a:spcAft>
            </a:pPr>
            <a:r>
              <a:rPr sz="900" b="1">
                <a:solidFill>
                  <a:srgbClr val="3B82F6"/>
                </a:solidFill>
                <a:latin typeface="Arial"/>
              </a:rPr>
              <a:t>•  </a:t>
            </a:r>
            <a:r>
              <a:rPr sz="900" b="1">
                <a:solidFill>
                  <a:srgbClr val="FFFFFF"/>
                </a:solidFill>
                <a:latin typeface="Arial"/>
              </a:rPr>
              <a:t>Paquete postgresql-contrib:</a:t>
            </a:r>
            <a:r>
              <a:rPr sz="850">
                <a:solidFill>
                  <a:srgbClr val="94A3B8"/>
                </a:solidFill>
                <a:latin typeface="Arial"/>
              </a:rPr>
              <a:t> Módulos y extensiones adicionales proporcionados con el motor.</a:t>
            </a:r>
          </a:p>
          <a:p>
            <a:pPr>
              <a:lnSpc>
                <a:spcPct val="115000"/>
              </a:lnSpc>
              <a:spcAft>
                <a:spcPts val="500"/>
              </a:spcAft>
            </a:pPr>
            <a:r>
              <a:rPr sz="900" b="1">
                <a:solidFill>
                  <a:srgbClr val="3B82F6"/>
                </a:solidFill>
                <a:latin typeface="Arial"/>
              </a:rPr>
              <a:t>•  </a:t>
            </a:r>
            <a:r>
              <a:rPr sz="900" b="1">
                <a:solidFill>
                  <a:srgbClr val="FFFFFF"/>
                </a:solidFill>
                <a:latin typeface="Arial"/>
              </a:rPr>
              <a:t>Recepción de Correcciones:</a:t>
            </a:r>
            <a:r>
              <a:rPr sz="850">
                <a:solidFill>
                  <a:srgbClr val="94A3B8"/>
                </a:solidFill>
                <a:latin typeface="Arial"/>
              </a:rPr>
              <a:t> Garantiza contar con parches recientes de estabilidad y seguridad.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932688" y="5184648"/>
            <a:ext cx="2935224" cy="1133856"/>
          </a:xfrm>
          <a:prstGeom prst="roundRect">
            <a:avLst/>
          </a:prstGeom>
          <a:solidFill>
            <a:srgbClr val="0B162C"/>
          </a:solidFill>
          <a:ln w="1905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1024128" y="5257800"/>
            <a:ext cx="2002536" cy="182880"/>
          </a:xfrm>
          <a:prstGeom prst="roundRect">
            <a:avLst/>
          </a:prstGeom>
          <a:solidFill>
            <a:srgbClr val="142A50"/>
          </a:solidFill>
          <a:ln w="9525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" rIns="45720" tIns="0" bIns="0"/>
          <a:lstStyle/>
          <a:p>
            <a:pPr algn="ctr"/>
            <a:r>
              <a:rPr sz="700" b="1">
                <a:solidFill>
                  <a:srgbClr val="38BDF8"/>
                </a:solidFill>
                <a:latin typeface="Consolas"/>
              </a:rPr>
              <a:t>⚡ COMANDOS DE INSTALACIÓN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42416" y="5458968"/>
            <a:ext cx="2715768" cy="822960"/>
          </a:xfrm>
          <a:prstGeom prst="rect">
            <a:avLst/>
          </a:prstGeom>
          <a:noFill/>
        </p:spPr>
        <p:txBody>
          <a:bodyPr wrap="square" lIns="0" tIns="0" bIns="0" rIns="0">
            <a:spAutoFit/>
          </a:bodyPr>
          <a:lstStyle/>
          <a:p>
            <a:pPr>
              <a:spcAft>
                <a:spcPts val="200"/>
              </a:spcAft>
            </a:pPr>
            <a:r>
              <a:rPr sz="850" b="1">
                <a:solidFill>
                  <a:srgbClr val="34D399"/>
                </a:solidFill>
                <a:latin typeface="Consolas"/>
              </a:rPr>
              <a:t>$ </a:t>
            </a:r>
            <a:r>
              <a:rPr sz="850" b="1">
                <a:solidFill>
                  <a:srgbClr val="FFFFFF"/>
                </a:solidFill>
                <a:latin typeface="Consolas"/>
              </a:rPr>
              <a:t>sudo apt update</a:t>
            </a:r>
          </a:p>
          <a:p>
            <a:pPr>
              <a:spcAft>
                <a:spcPts val="200"/>
              </a:spcAft>
            </a:pPr>
            <a:r>
              <a:rPr sz="850" b="1">
                <a:solidFill>
                  <a:srgbClr val="34D399"/>
                </a:solidFill>
                <a:latin typeface="Consolas"/>
              </a:rPr>
              <a:t>$ </a:t>
            </a:r>
            <a:r>
              <a:rPr sz="850" b="1">
                <a:solidFill>
                  <a:srgbClr val="FFFFFF"/>
                </a:solidFill>
                <a:latin typeface="Consolas"/>
              </a:rPr>
              <a:t>sudo apt upgrade -y</a:t>
            </a:r>
          </a:p>
          <a:p>
            <a:pPr>
              <a:spcAft>
                <a:spcPts val="200"/>
              </a:spcAft>
            </a:pPr>
            <a:r>
              <a:rPr sz="850" b="1">
                <a:solidFill>
                  <a:srgbClr val="34D399"/>
                </a:solidFill>
                <a:latin typeface="Consolas"/>
              </a:rPr>
              <a:t>$ </a:t>
            </a:r>
            <a:r>
              <a:rPr sz="850" b="1">
                <a:solidFill>
                  <a:srgbClr val="FFFFFF"/>
                </a:solidFill>
                <a:latin typeface="Consolas"/>
              </a:rPr>
              <a:t>sudo apt install postgresql postgresql-contrib -y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32688" y="6135624"/>
            <a:ext cx="2935224" cy="256032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r>
              <a:rPr sz="800" b="1">
                <a:solidFill>
                  <a:srgbClr val="10B981"/>
                </a:solidFill>
                <a:latin typeface="Arial"/>
              </a:rPr>
              <a:t>● PAQUETES INSTALADOS CORRECTAMENTE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416552" y="1572768"/>
            <a:ext cx="3337560" cy="4892040"/>
          </a:xfrm>
          <a:prstGeom prst="roundRect">
            <a:avLst/>
          </a:prstGeom>
          <a:solidFill>
            <a:srgbClr val="141C30"/>
          </a:solidFill>
          <a:ln w="19050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617720" y="1737360"/>
            <a:ext cx="2935224" cy="31546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</a:pPr>
            <a:r>
              <a:rPr sz="1200" b="1">
                <a:solidFill>
                  <a:srgbClr val="38BDF8"/>
                </a:solidFill>
                <a:latin typeface="Arial"/>
              </a:rPr>
              <a:t>🔍 Comprobación del Servicio</a:t>
            </a:r>
          </a:p>
          <a:p>
            <a:pPr>
              <a:lnSpc>
                <a:spcPct val="115000"/>
              </a:lnSpc>
              <a:spcAft>
                <a:spcPts val="500"/>
              </a:spcAft>
            </a:pPr>
            <a:r>
              <a:rPr sz="900" b="1">
                <a:solidFill>
                  <a:srgbClr val="38BDF8"/>
                </a:solidFill>
                <a:latin typeface="Arial"/>
              </a:rPr>
              <a:t>•  </a:t>
            </a:r>
            <a:r>
              <a:rPr sz="900" b="1">
                <a:solidFill>
                  <a:srgbClr val="FFFFFF"/>
                </a:solidFill>
                <a:latin typeface="Arial"/>
              </a:rPr>
              <a:t>Verificación de Ejecución:</a:t>
            </a:r>
            <a:r>
              <a:rPr sz="850">
                <a:solidFill>
                  <a:srgbClr val="94A3B8"/>
                </a:solidFill>
                <a:latin typeface="Arial"/>
              </a:rPr>
              <a:t> Comprobar mediante systemd que el servicio esté activo.</a:t>
            </a:r>
          </a:p>
          <a:p>
            <a:pPr>
              <a:lnSpc>
                <a:spcPct val="115000"/>
              </a:lnSpc>
              <a:spcAft>
                <a:spcPts val="500"/>
              </a:spcAft>
            </a:pPr>
            <a:r>
              <a:rPr sz="900" b="1">
                <a:solidFill>
                  <a:srgbClr val="38BDF8"/>
                </a:solidFill>
                <a:latin typeface="Arial"/>
              </a:rPr>
              <a:t>•  </a:t>
            </a:r>
            <a:r>
              <a:rPr sz="900" b="1">
                <a:solidFill>
                  <a:srgbClr val="FFFFFF"/>
                </a:solidFill>
                <a:latin typeface="Arial"/>
              </a:rPr>
              <a:t>Comprobación de Versión:</a:t>
            </a:r>
            <a:r>
              <a:rPr sz="850">
                <a:solidFill>
                  <a:srgbClr val="94A3B8"/>
                </a:solidFill>
                <a:latin typeface="Arial"/>
              </a:rPr>
              <a:t> Validar que se encuentre instalada la versión 16 de PostgreSQL.</a:t>
            </a:r>
          </a:p>
          <a:p>
            <a:pPr>
              <a:lnSpc>
                <a:spcPct val="115000"/>
              </a:lnSpc>
              <a:spcAft>
                <a:spcPts val="500"/>
              </a:spcAft>
            </a:pPr>
            <a:r>
              <a:rPr sz="900" b="1">
                <a:solidFill>
                  <a:srgbClr val="38BDF8"/>
                </a:solidFill>
                <a:latin typeface="Arial"/>
              </a:rPr>
              <a:t>•  </a:t>
            </a:r>
            <a:r>
              <a:rPr sz="900" b="1">
                <a:solidFill>
                  <a:srgbClr val="FFFFFF"/>
                </a:solidFill>
                <a:latin typeface="Arial"/>
              </a:rPr>
              <a:t>Arranque Automático:</a:t>
            </a:r>
            <a:r>
              <a:rPr sz="850">
                <a:solidFill>
                  <a:srgbClr val="94A3B8"/>
                </a:solidFill>
                <a:latin typeface="Arial"/>
              </a:rPr>
              <a:t> El servicio queda habilitado para iniciar con el sistema.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617720" y="5184648"/>
            <a:ext cx="2935224" cy="1133856"/>
          </a:xfrm>
          <a:prstGeom prst="roundRect">
            <a:avLst/>
          </a:prstGeom>
          <a:solidFill>
            <a:srgbClr val="0B162C"/>
          </a:solidFill>
          <a:ln w="1905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4709160" y="5257800"/>
            <a:ext cx="2660904" cy="182880"/>
          </a:xfrm>
          <a:prstGeom prst="roundRect">
            <a:avLst/>
          </a:prstGeom>
          <a:solidFill>
            <a:srgbClr val="142A50"/>
          </a:solidFill>
          <a:ln w="9525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" rIns="45720" tIns="0" bIns="0"/>
          <a:lstStyle/>
          <a:p>
            <a:pPr algn="ctr"/>
            <a:r>
              <a:rPr sz="700" b="1">
                <a:solidFill>
                  <a:srgbClr val="38BDF8"/>
                </a:solidFill>
                <a:latin typeface="Consolas"/>
              </a:rPr>
              <a:t>⚡ VERIFICACIÓN DE ESTADO Y VERSIÓN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727448" y="5458968"/>
            <a:ext cx="2715768" cy="822960"/>
          </a:xfrm>
          <a:prstGeom prst="rect">
            <a:avLst/>
          </a:prstGeom>
          <a:noFill/>
        </p:spPr>
        <p:txBody>
          <a:bodyPr wrap="square" lIns="0" tIns="0" bIns="0" rIns="0">
            <a:spAutoFit/>
          </a:bodyPr>
          <a:lstStyle/>
          <a:p>
            <a:pPr>
              <a:spcAft>
                <a:spcPts val="200"/>
              </a:spcAft>
            </a:pPr>
            <a:r>
              <a:rPr sz="850" b="1">
                <a:solidFill>
                  <a:srgbClr val="34D399"/>
                </a:solidFill>
                <a:latin typeface="Consolas"/>
              </a:rPr>
              <a:t>$ </a:t>
            </a:r>
            <a:r>
              <a:rPr sz="850" b="1">
                <a:solidFill>
                  <a:srgbClr val="FFFFFF"/>
                </a:solidFill>
                <a:latin typeface="Consolas"/>
              </a:rPr>
              <a:t>sudo systemctl status postgresql</a:t>
            </a:r>
          </a:p>
          <a:p>
            <a:pPr>
              <a:spcAft>
                <a:spcPts val="200"/>
              </a:spcAft>
            </a:pPr>
            <a:r>
              <a:rPr sz="850">
                <a:solidFill>
                  <a:srgbClr val="38BDF8"/>
                </a:solidFill>
                <a:latin typeface="Consolas"/>
              </a:rPr>
              <a:t>  Active: active (running)</a:t>
            </a:r>
          </a:p>
          <a:p>
            <a:pPr>
              <a:spcAft>
                <a:spcPts val="200"/>
              </a:spcAft>
            </a:pPr>
            <a:r>
              <a:rPr sz="850" b="1">
                <a:solidFill>
                  <a:srgbClr val="34D399"/>
                </a:solidFill>
                <a:latin typeface="Consolas"/>
              </a:rPr>
              <a:t>$ </a:t>
            </a:r>
            <a:r>
              <a:rPr sz="850" b="1">
                <a:solidFill>
                  <a:srgbClr val="FFFFFF"/>
                </a:solidFill>
                <a:latin typeface="Consolas"/>
              </a:rPr>
              <a:t>psql --version</a:t>
            </a:r>
          </a:p>
          <a:p>
            <a:pPr>
              <a:spcAft>
                <a:spcPts val="200"/>
              </a:spcAft>
            </a:pPr>
            <a:r>
              <a:rPr sz="850">
                <a:solidFill>
                  <a:srgbClr val="38BDF8"/>
                </a:solidFill>
                <a:latin typeface="Consolas"/>
              </a:rPr>
              <a:t>  psql (PostgreSQL) 16.x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617720" y="6135624"/>
            <a:ext cx="2935224" cy="256032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r>
              <a:rPr sz="800" b="1">
                <a:solidFill>
                  <a:srgbClr val="38BDF8"/>
                </a:solidFill>
                <a:latin typeface="Arial"/>
              </a:rPr>
              <a:t>● SERVICIO EN EJECUCIÓN (ACTIVE)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101583" y="1572768"/>
            <a:ext cx="3337560" cy="4892040"/>
          </a:xfrm>
          <a:prstGeom prst="roundRect">
            <a:avLst/>
          </a:prstGeom>
          <a:solidFill>
            <a:srgbClr val="101524"/>
          </a:solidFill>
          <a:ln w="12700">
            <a:solidFill>
              <a:srgbClr val="232D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302751" y="1737360"/>
            <a:ext cx="2935224" cy="31546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</a:pPr>
            <a:r>
              <a:rPr sz="1200" b="1">
                <a:solidFill>
                  <a:srgbClr val="FFFFFF"/>
                </a:solidFill>
                <a:latin typeface="Arial"/>
              </a:rPr>
              <a:t>🔑 Primer Ingreso Administrativo</a:t>
            </a:r>
          </a:p>
          <a:p>
            <a:pPr>
              <a:lnSpc>
                <a:spcPct val="115000"/>
              </a:lnSpc>
              <a:spcAft>
                <a:spcPts val="500"/>
              </a:spcAft>
            </a:pPr>
            <a:r>
              <a:rPr sz="900" b="1">
                <a:solidFill>
                  <a:srgbClr val="3B82F6"/>
                </a:solidFill>
                <a:latin typeface="Arial"/>
              </a:rPr>
              <a:t>•  </a:t>
            </a:r>
            <a:r>
              <a:rPr sz="900" b="1">
                <a:solidFill>
                  <a:srgbClr val="FFFFFF"/>
                </a:solidFill>
                <a:latin typeface="Arial"/>
              </a:rPr>
              <a:t>Usuario 'postgres':</a:t>
            </a:r>
            <a:r>
              <a:rPr sz="850">
                <a:solidFill>
                  <a:srgbClr val="94A3B8"/>
                </a:solidFill>
                <a:latin typeface="Arial"/>
              </a:rPr>
              <a:t> Usuario administrativo local creado durante la instalación.</a:t>
            </a:r>
          </a:p>
          <a:p>
            <a:pPr>
              <a:lnSpc>
                <a:spcPct val="115000"/>
              </a:lnSpc>
              <a:spcAft>
                <a:spcPts val="500"/>
              </a:spcAft>
            </a:pPr>
            <a:r>
              <a:rPr sz="900" b="1">
                <a:solidFill>
                  <a:srgbClr val="3B82F6"/>
                </a:solidFill>
                <a:latin typeface="Arial"/>
              </a:rPr>
              <a:t>•  </a:t>
            </a:r>
            <a:r>
              <a:rPr sz="900" b="1">
                <a:solidFill>
                  <a:srgbClr val="FFFFFF"/>
                </a:solidFill>
                <a:latin typeface="Arial"/>
              </a:rPr>
              <a:t>Conexión Local:</a:t>
            </a:r>
            <a:r>
              <a:rPr sz="850">
                <a:solidFill>
                  <a:srgbClr val="94A3B8"/>
                </a:solidFill>
                <a:latin typeface="Arial"/>
              </a:rPr>
              <a:t> Se ejecuta directamente desde la consola del propio servidor.</a:t>
            </a:r>
          </a:p>
          <a:p>
            <a:pPr>
              <a:lnSpc>
                <a:spcPct val="115000"/>
              </a:lnSpc>
              <a:spcAft>
                <a:spcPts val="500"/>
              </a:spcAft>
            </a:pPr>
            <a:r>
              <a:rPr sz="900" b="1">
                <a:solidFill>
                  <a:srgbClr val="3B82F6"/>
                </a:solidFill>
                <a:latin typeface="Arial"/>
              </a:rPr>
              <a:t>•  </a:t>
            </a:r>
            <a:r>
              <a:rPr sz="900" b="1">
                <a:solidFill>
                  <a:srgbClr val="FFFFFF"/>
                </a:solidFill>
                <a:latin typeface="Arial"/>
              </a:rPr>
              <a:t>Sesión Inicial:</a:t>
            </a:r>
            <a:r>
              <a:rPr sz="850">
                <a:solidFill>
                  <a:srgbClr val="94A3B8"/>
                </a:solidFill>
                <a:latin typeface="Arial"/>
              </a:rPr>
              <a:t> Permite efectuar las configuraciones de seguridad posteriores (bases, usuarios y roles).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302751" y="5184648"/>
            <a:ext cx="2935224" cy="1133856"/>
          </a:xfrm>
          <a:prstGeom prst="roundRect">
            <a:avLst/>
          </a:prstGeom>
          <a:solidFill>
            <a:srgbClr val="0B162C"/>
          </a:solidFill>
          <a:ln w="1905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8394191" y="5257800"/>
            <a:ext cx="2587752" cy="182880"/>
          </a:xfrm>
          <a:prstGeom prst="roundRect">
            <a:avLst/>
          </a:prstGeom>
          <a:solidFill>
            <a:srgbClr val="142A50"/>
          </a:solidFill>
          <a:ln w="9525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" rIns="45720" tIns="0" bIns="0"/>
          <a:lstStyle/>
          <a:p>
            <a:pPr algn="ctr"/>
            <a:r>
              <a:rPr sz="700" b="1">
                <a:solidFill>
                  <a:srgbClr val="38BDF8"/>
                </a:solidFill>
                <a:latin typeface="Consolas"/>
              </a:rPr>
              <a:t>⚡ CONEXIÓN INICIAL ADMINISTRATIVA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412479" y="5458968"/>
            <a:ext cx="2715768" cy="822960"/>
          </a:xfrm>
          <a:prstGeom prst="rect">
            <a:avLst/>
          </a:prstGeom>
          <a:noFill/>
        </p:spPr>
        <p:txBody>
          <a:bodyPr wrap="square" lIns="0" tIns="0" bIns="0" rIns="0">
            <a:spAutoFit/>
          </a:bodyPr>
          <a:lstStyle/>
          <a:p>
            <a:pPr>
              <a:spcAft>
                <a:spcPts val="200"/>
              </a:spcAft>
            </a:pPr>
            <a:r>
              <a:rPr sz="850" b="1">
                <a:solidFill>
                  <a:srgbClr val="34D399"/>
                </a:solidFill>
                <a:latin typeface="Consolas"/>
              </a:rPr>
              <a:t>$ </a:t>
            </a:r>
            <a:r>
              <a:rPr sz="850" b="1">
                <a:solidFill>
                  <a:srgbClr val="FFFFFF"/>
                </a:solidFill>
                <a:latin typeface="Consolas"/>
              </a:rPr>
              <a:t>sudo -u postgres psql</a:t>
            </a:r>
          </a:p>
          <a:p>
            <a:pPr>
              <a:spcAft>
                <a:spcPts val="200"/>
              </a:spcAft>
            </a:pPr>
            <a:r>
              <a:rPr sz="850">
                <a:solidFill>
                  <a:srgbClr val="38BDF8"/>
                </a:solidFill>
                <a:latin typeface="Consolas"/>
              </a:rPr>
              <a:t>psql (16.x)</a:t>
            </a:r>
          </a:p>
          <a:p>
            <a:pPr>
              <a:spcAft>
                <a:spcPts val="200"/>
              </a:spcAft>
            </a:pPr>
            <a:r>
              <a:rPr sz="850">
                <a:solidFill>
                  <a:srgbClr val="38BDF8"/>
                </a:solidFill>
                <a:latin typeface="Consolas"/>
              </a:rPr>
              <a:t>Type "help" for help.</a:t>
            </a:r>
          </a:p>
          <a:p>
            <a:pPr>
              <a:spcAft>
                <a:spcPts val="200"/>
              </a:spcAft>
            </a:pPr>
            <a:r>
              <a:rPr sz="850" b="1">
                <a:solidFill>
                  <a:srgbClr val="38BDF8"/>
                </a:solidFill>
                <a:latin typeface="Consolas"/>
              </a:rPr>
              <a:t>postgres=</a:t>
            </a:r>
            <a:r>
              <a:rPr sz="850">
                <a:solidFill>
                  <a:srgbClr val="D8B4FE"/>
                </a:solidFill>
                <a:latin typeface="Consolas"/>
              </a:rPr>
              <a:t>#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302751" y="6135624"/>
            <a:ext cx="2935224" cy="256032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r>
              <a:rPr sz="800" b="1">
                <a:solidFill>
                  <a:srgbClr val="10B981"/>
                </a:solidFill>
                <a:latin typeface="Arial"/>
              </a:rPr>
              <a:t>● ACCESO LOCAL VERIFICADO</a:t>
            </a:r>
          </a:p>
        </p:txBody>
      </p:sp>
    </p:spTree>
  </p:cSld>
  <p:transition spd="med">
    <p:split dir="in"/>
  </p:transition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90C1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347472"/>
            <a:ext cx="3474720" cy="274320"/>
          </a:xfrm>
          <a:prstGeom prst="roundRect">
            <a:avLst/>
          </a:prstGeom>
          <a:solidFill>
            <a:srgbClr val="121C34"/>
          </a:solidFill>
          <a:ln w="12700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18288" bIns="18288"/>
          <a:lstStyle/>
          <a:p>
            <a:pPr algn="ctr"/>
            <a:r>
              <a:rPr sz="850" b="1">
                <a:solidFill>
                  <a:srgbClr val="38BDF8"/>
                </a:solidFill>
                <a:latin typeface="Arial"/>
              </a:rPr>
              <a:t>●  SECCIÓN 4.1 // MEDIDAS DE HARDENING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601200" y="347472"/>
            <a:ext cx="1828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50" b="1">
                <a:solidFill>
                  <a:srgbClr val="64748B"/>
                </a:solidFill>
                <a:latin typeface="Consolas"/>
              </a:rPr>
              <a:t>SLIDE 06 / 14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676656"/>
            <a:ext cx="10698480" cy="438912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r>
              <a:rPr sz="2000" b="1">
                <a:solidFill>
                  <a:srgbClr val="FFFFFF"/>
                </a:solidFill>
                <a:latin typeface="Arial"/>
              </a:rPr>
              <a:t>Medida 1: Mantener el Sistema Operativo Actualizado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133856"/>
            <a:ext cx="10698480" cy="292608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r>
              <a:rPr sz="1050">
                <a:solidFill>
                  <a:srgbClr val="94A3B8"/>
                </a:solidFill>
                <a:latin typeface="Arial"/>
              </a:rPr>
              <a:t>Corrección de vulnerabilidades conocidas y estrategia de seguridad por capas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572768"/>
            <a:ext cx="5166360" cy="4892040"/>
          </a:xfrm>
          <a:prstGeom prst="roundRect">
            <a:avLst/>
          </a:prstGeom>
          <a:solidFill>
            <a:srgbClr val="141C30"/>
          </a:solidFill>
          <a:ln w="19050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32688" y="1737360"/>
            <a:ext cx="4764024" cy="31546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</a:pPr>
            <a:r>
              <a:rPr sz="1200" b="1">
                <a:solidFill>
                  <a:srgbClr val="38BDF8"/>
                </a:solidFill>
                <a:latin typeface="Arial"/>
              </a:rPr>
              <a:t>🛡️ Fundamento de la Medida</a:t>
            </a:r>
          </a:p>
          <a:p>
            <a:pPr>
              <a:lnSpc>
                <a:spcPct val="115000"/>
              </a:lnSpc>
              <a:spcAft>
                <a:spcPts val="500"/>
              </a:spcAft>
            </a:pPr>
            <a:r>
              <a:rPr sz="900" b="1">
                <a:solidFill>
                  <a:srgbClr val="38BDF8"/>
                </a:solidFill>
                <a:latin typeface="Arial"/>
              </a:rPr>
              <a:t>•  </a:t>
            </a:r>
            <a:r>
              <a:rPr sz="900" b="1">
                <a:solidFill>
                  <a:srgbClr val="FFFFFF"/>
                </a:solidFill>
                <a:latin typeface="Arial"/>
              </a:rPr>
              <a:t>Primera Línea de Defensa:</a:t>
            </a:r>
            <a:r>
              <a:rPr sz="850">
                <a:solidFill>
                  <a:srgbClr val="94A3B8"/>
                </a:solidFill>
                <a:latin typeface="Arial"/>
              </a:rPr>
              <a:t> Mantener Ubuntu y PostgreSQL actualizados reduce la probabilidad de explotación de fallos conocidos.</a:t>
            </a:r>
          </a:p>
          <a:p>
            <a:pPr>
              <a:lnSpc>
                <a:spcPct val="115000"/>
              </a:lnSpc>
              <a:spcAft>
                <a:spcPts val="500"/>
              </a:spcAft>
            </a:pPr>
            <a:r>
              <a:rPr sz="900" b="1">
                <a:solidFill>
                  <a:srgbClr val="38BDF8"/>
                </a:solidFill>
                <a:latin typeface="Arial"/>
              </a:rPr>
              <a:t>•  </a:t>
            </a:r>
            <a:r>
              <a:rPr sz="900" b="1">
                <a:solidFill>
                  <a:srgbClr val="FFFFFF"/>
                </a:solidFill>
                <a:latin typeface="Arial"/>
              </a:rPr>
              <a:t>Mitigación de Vulnerabilidades:</a:t>
            </a:r>
            <a:r>
              <a:rPr sz="850">
                <a:solidFill>
                  <a:srgbClr val="94A3B8"/>
                </a:solidFill>
                <a:latin typeface="Arial"/>
              </a:rPr>
              <a:t> Aplica correcciones que ya cuentan con solución oficial publicada por los desarrolladores.</a:t>
            </a:r>
          </a:p>
          <a:p>
            <a:pPr>
              <a:lnSpc>
                <a:spcPct val="115000"/>
              </a:lnSpc>
              <a:spcAft>
                <a:spcPts val="500"/>
              </a:spcAft>
            </a:pPr>
            <a:r>
              <a:rPr sz="900" b="1">
                <a:solidFill>
                  <a:srgbClr val="38BDF8"/>
                </a:solidFill>
                <a:latin typeface="Arial"/>
              </a:rPr>
              <a:t>•  </a:t>
            </a:r>
            <a:r>
              <a:rPr sz="900" b="1">
                <a:solidFill>
                  <a:srgbClr val="FFFFFF"/>
                </a:solidFill>
                <a:latin typeface="Arial"/>
              </a:rPr>
              <a:t>Estabilidad del Entorno:</a:t>
            </a:r>
            <a:r>
              <a:rPr sz="850">
                <a:solidFill>
                  <a:srgbClr val="94A3B8"/>
                </a:solidFill>
                <a:latin typeface="Arial"/>
              </a:rPr>
              <a:t> Evita fallos imprevistos y comportamientos anómalos en el motor.</a:t>
            </a:r>
          </a:p>
          <a:p>
            <a:pPr>
              <a:lnSpc>
                <a:spcPct val="115000"/>
              </a:lnSpc>
              <a:spcAft>
                <a:spcPts val="500"/>
              </a:spcAft>
            </a:pPr>
            <a:r>
              <a:rPr sz="900" b="1">
                <a:solidFill>
                  <a:srgbClr val="38BDF8"/>
                </a:solidFill>
                <a:latin typeface="Arial"/>
              </a:rPr>
              <a:t>•  </a:t>
            </a:r>
            <a:r>
              <a:rPr sz="900" b="1">
                <a:solidFill>
                  <a:srgbClr val="FFFFFF"/>
                </a:solidFill>
                <a:latin typeface="Arial"/>
              </a:rPr>
              <a:t>Recomendación de Canonical (2026):</a:t>
            </a:r>
            <a:r>
              <a:rPr sz="850">
                <a:solidFill>
                  <a:srgbClr val="94A3B8"/>
                </a:solidFill>
                <a:latin typeface="Arial"/>
              </a:rPr>
              <a:t> Complementar la instalación con seguridad por capas (actualizaciones, usuarios y red).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932688" y="5184648"/>
            <a:ext cx="4764024" cy="1133856"/>
          </a:xfrm>
          <a:prstGeom prst="roundRect">
            <a:avLst/>
          </a:prstGeom>
          <a:solidFill>
            <a:srgbClr val="0B162C"/>
          </a:solidFill>
          <a:ln w="1905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1024128" y="5257800"/>
            <a:ext cx="2734056" cy="182880"/>
          </a:xfrm>
          <a:prstGeom prst="roundRect">
            <a:avLst/>
          </a:prstGeom>
          <a:solidFill>
            <a:srgbClr val="142A50"/>
          </a:solidFill>
          <a:ln w="9525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" rIns="45720" tIns="0" bIns="0"/>
          <a:lstStyle/>
          <a:p>
            <a:pPr algn="ctr"/>
            <a:r>
              <a:rPr sz="700" b="1">
                <a:solidFill>
                  <a:srgbClr val="38BDF8"/>
                </a:solidFill>
                <a:latin typeface="Consolas"/>
              </a:rPr>
              <a:t>⚡ RUTINA PERIÓDICA DE ACTUALIZACIÓN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42416" y="5458968"/>
            <a:ext cx="4544568" cy="822960"/>
          </a:xfrm>
          <a:prstGeom prst="rect">
            <a:avLst/>
          </a:prstGeom>
          <a:noFill/>
        </p:spPr>
        <p:txBody>
          <a:bodyPr wrap="square" lIns="0" tIns="0" bIns="0" rIns="0">
            <a:spAutoFit/>
          </a:bodyPr>
          <a:lstStyle/>
          <a:p>
            <a:pPr>
              <a:spcAft>
                <a:spcPts val="200"/>
              </a:spcAft>
            </a:pPr>
            <a:r>
              <a:rPr sz="850" b="1">
                <a:solidFill>
                  <a:srgbClr val="34D399"/>
                </a:solidFill>
                <a:latin typeface="Consolas"/>
              </a:rPr>
              <a:t>$ </a:t>
            </a:r>
            <a:r>
              <a:rPr sz="850" b="1">
                <a:solidFill>
                  <a:srgbClr val="FFFFFF"/>
                </a:solidFill>
                <a:latin typeface="Consolas"/>
              </a:rPr>
              <a:t>sudo apt update</a:t>
            </a:r>
          </a:p>
          <a:p>
            <a:pPr>
              <a:spcAft>
                <a:spcPts val="200"/>
              </a:spcAft>
            </a:pPr>
            <a:r>
              <a:rPr sz="850" b="1">
                <a:solidFill>
                  <a:srgbClr val="34D399"/>
                </a:solidFill>
                <a:latin typeface="Consolas"/>
              </a:rPr>
              <a:t>$ </a:t>
            </a:r>
            <a:r>
              <a:rPr sz="850" b="1">
                <a:solidFill>
                  <a:srgbClr val="FFFFFF"/>
                </a:solidFill>
                <a:latin typeface="Consolas"/>
              </a:rPr>
              <a:t>sudo apt upgrade -y</a:t>
            </a:r>
          </a:p>
          <a:p>
            <a:pPr>
              <a:spcAft>
                <a:spcPts val="200"/>
              </a:spcAft>
            </a:pPr>
            <a:r>
              <a:rPr sz="800" i="1">
                <a:solidFill>
                  <a:srgbClr val="64748B"/>
                </a:solidFill>
                <a:latin typeface="Consolas"/>
              </a:rPr>
              <a:t># Mantiene al día el SO y las librerías compartidas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32688" y="6135624"/>
            <a:ext cx="4764024" cy="256032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r>
              <a:rPr sz="800" b="1">
                <a:solidFill>
                  <a:srgbClr val="10B981"/>
                </a:solidFill>
                <a:latin typeface="Arial"/>
              </a:rPr>
              <a:t>● RECOMENDACIÓN: CANONICAL (2026)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291072" y="1572768"/>
            <a:ext cx="5166360" cy="4892040"/>
          </a:xfrm>
          <a:prstGeom prst="roundRect">
            <a:avLst/>
          </a:prstGeom>
          <a:solidFill>
            <a:srgbClr val="101524"/>
          </a:solidFill>
          <a:ln w="12700">
            <a:solidFill>
              <a:srgbClr val="232D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92240" y="1737360"/>
            <a:ext cx="4764024" cy="31546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</a:pPr>
            <a:r>
              <a:rPr sz="1200" b="1">
                <a:solidFill>
                  <a:srgbClr val="FFFFFF"/>
                </a:solidFill>
                <a:latin typeface="Arial"/>
              </a:rPr>
              <a:t>🧱 Estrategia de Seguridad por Capas</a:t>
            </a:r>
          </a:p>
          <a:p>
            <a:pPr>
              <a:lnSpc>
                <a:spcPct val="115000"/>
              </a:lnSpc>
              <a:spcAft>
                <a:spcPts val="500"/>
              </a:spcAft>
            </a:pPr>
            <a:r>
              <a:rPr sz="900" b="1">
                <a:solidFill>
                  <a:srgbClr val="3B82F6"/>
                </a:solidFill>
                <a:latin typeface="Arial"/>
              </a:rPr>
              <a:t>•  </a:t>
            </a:r>
            <a:r>
              <a:rPr sz="900" b="1">
                <a:solidFill>
                  <a:srgbClr val="FFFFFF"/>
                </a:solidFill>
                <a:latin typeface="Arial"/>
              </a:rPr>
              <a:t>Capa 1 (Parches de SO):</a:t>
            </a:r>
            <a:r>
              <a:rPr sz="850">
                <a:solidFill>
                  <a:srgbClr val="94A3B8"/>
                </a:solidFill>
                <a:latin typeface="Arial"/>
              </a:rPr>
              <a:t> Actualizaciones continuas del kernel y utilitarios del sistema.</a:t>
            </a:r>
          </a:p>
          <a:p>
            <a:pPr>
              <a:lnSpc>
                <a:spcPct val="115000"/>
              </a:lnSpc>
              <a:spcAft>
                <a:spcPts val="500"/>
              </a:spcAft>
            </a:pPr>
            <a:r>
              <a:rPr sz="900" b="1">
                <a:solidFill>
                  <a:srgbClr val="3B82F6"/>
                </a:solidFill>
                <a:latin typeface="Arial"/>
              </a:rPr>
              <a:t>•  </a:t>
            </a:r>
            <a:r>
              <a:rPr sz="900" b="1">
                <a:solidFill>
                  <a:srgbClr val="FFFFFF"/>
                </a:solidFill>
                <a:latin typeface="Arial"/>
              </a:rPr>
              <a:t>Capa 2 (Parches de PostgreSQL):</a:t>
            </a:r>
            <a:r>
              <a:rPr sz="850">
                <a:solidFill>
                  <a:srgbClr val="94A3B8"/>
                </a:solidFill>
                <a:latin typeface="Arial"/>
              </a:rPr>
              <a:t> Actualizaciones del motor relacional mediante repositorios APT.</a:t>
            </a:r>
          </a:p>
          <a:p>
            <a:pPr>
              <a:lnSpc>
                <a:spcPct val="115000"/>
              </a:lnSpc>
              <a:spcAft>
                <a:spcPts val="500"/>
              </a:spcAft>
            </a:pPr>
            <a:r>
              <a:rPr sz="900" b="1">
                <a:solidFill>
                  <a:srgbClr val="3B82F6"/>
                </a:solidFill>
                <a:latin typeface="Arial"/>
              </a:rPr>
              <a:t>•  </a:t>
            </a:r>
            <a:r>
              <a:rPr sz="900" b="1">
                <a:solidFill>
                  <a:srgbClr val="FFFFFF"/>
                </a:solidFill>
                <a:latin typeface="Arial"/>
              </a:rPr>
              <a:t>Capa 3 (Administración de Cuentas):</a:t>
            </a:r>
            <a:r>
              <a:rPr sz="850">
                <a:solidFill>
                  <a:srgbClr val="94A3B8"/>
                </a:solidFill>
                <a:latin typeface="Arial"/>
              </a:rPr>
              <a:t> Control estricto de usuarios locales y del gestor.</a:t>
            </a:r>
          </a:p>
          <a:p>
            <a:pPr>
              <a:lnSpc>
                <a:spcPct val="115000"/>
              </a:lnSpc>
              <a:spcAft>
                <a:spcPts val="500"/>
              </a:spcAft>
            </a:pPr>
            <a:r>
              <a:rPr sz="900" b="1">
                <a:solidFill>
                  <a:srgbClr val="3B82F6"/>
                </a:solidFill>
                <a:latin typeface="Arial"/>
              </a:rPr>
              <a:t>•  </a:t>
            </a:r>
            <a:r>
              <a:rPr sz="900" b="1">
                <a:solidFill>
                  <a:srgbClr val="FFFFFF"/>
                </a:solidFill>
                <a:latin typeface="Arial"/>
              </a:rPr>
              <a:t>Capa 4 (Protección de Red):</a:t>
            </a:r>
            <a:r>
              <a:rPr sz="850">
                <a:solidFill>
                  <a:srgbClr val="94A3B8"/>
                </a:solidFill>
                <a:latin typeface="Arial"/>
              </a:rPr>
              <a:t> Reglas de acceso perimetral para aislar el puerto de base de datos.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492240" y="5184648"/>
            <a:ext cx="4764024" cy="1133856"/>
          </a:xfrm>
          <a:prstGeom prst="roundRect">
            <a:avLst/>
          </a:prstGeom>
          <a:solidFill>
            <a:srgbClr val="0B162C"/>
          </a:solidFill>
          <a:ln w="1905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6583680" y="5257800"/>
            <a:ext cx="3099816" cy="182880"/>
          </a:xfrm>
          <a:prstGeom prst="roundRect">
            <a:avLst/>
          </a:prstGeom>
          <a:solidFill>
            <a:srgbClr val="142A50"/>
          </a:solidFill>
          <a:ln w="9525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" rIns="45720" tIns="0" bIns="0"/>
          <a:lstStyle/>
          <a:p>
            <a:pPr algn="ctr"/>
            <a:r>
              <a:rPr sz="700" b="1">
                <a:solidFill>
                  <a:srgbClr val="38BDF8"/>
                </a:solidFill>
                <a:latin typeface="Consolas"/>
              </a:rPr>
              <a:t>⚡ BENEFICIO DE LA ACTUALIZACIÓN CONTINUA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601968" y="5458968"/>
            <a:ext cx="4544568" cy="822960"/>
          </a:xfrm>
          <a:prstGeom prst="rect">
            <a:avLst/>
          </a:prstGeom>
          <a:noFill/>
        </p:spPr>
        <p:txBody>
          <a:bodyPr wrap="square" lIns="0" tIns="0" bIns="0" rIns="0">
            <a:spAutoFit/>
          </a:bodyPr>
          <a:lstStyle/>
          <a:p>
            <a:pPr>
              <a:spcAft>
                <a:spcPts val="200"/>
              </a:spcAft>
            </a:pPr>
            <a:r>
              <a:rPr sz="850">
                <a:solidFill>
                  <a:srgbClr val="38BDF8"/>
                </a:solidFill>
                <a:latin typeface="Consolas"/>
              </a:rPr>
              <a:t>• Cierra brechas de seguridad documentadas</a:t>
            </a:r>
          </a:p>
          <a:p>
            <a:pPr>
              <a:spcAft>
                <a:spcPts val="200"/>
              </a:spcAft>
            </a:pPr>
            <a:r>
              <a:rPr sz="850">
                <a:solidFill>
                  <a:srgbClr val="38BDF8"/>
                </a:solidFill>
                <a:latin typeface="Consolas"/>
              </a:rPr>
              <a:t>• Previene ataques automatizados basados en CVEs</a:t>
            </a:r>
          </a:p>
          <a:p>
            <a:pPr>
              <a:spcAft>
                <a:spcPts val="200"/>
              </a:spcAft>
            </a:pPr>
            <a:r>
              <a:rPr sz="850">
                <a:solidFill>
                  <a:srgbClr val="38BDF8"/>
                </a:solidFill>
                <a:latin typeface="Consolas"/>
              </a:rPr>
              <a:t>• Mantiene la compatibilidad con librerías TLS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92240" y="6135624"/>
            <a:ext cx="4764024" cy="256032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r>
              <a:rPr sz="800" b="1">
                <a:solidFill>
                  <a:srgbClr val="38BDF8"/>
                </a:solidFill>
                <a:latin typeface="Arial"/>
              </a:rPr>
              <a:t>● ENFOQUE POR CAPAS VERIFICADO</a:t>
            </a:r>
          </a:p>
        </p:txBody>
      </p:sp>
    </p:spTree>
  </p:cSld>
  <p:transition spd="med">
    <p:push dir="u"/>
  </p:transition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90C1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347472"/>
            <a:ext cx="3474720" cy="274320"/>
          </a:xfrm>
          <a:prstGeom prst="roundRect">
            <a:avLst/>
          </a:prstGeom>
          <a:solidFill>
            <a:srgbClr val="121C34"/>
          </a:solidFill>
          <a:ln w="12700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18288" bIns="18288"/>
          <a:lstStyle/>
          <a:p>
            <a:pPr algn="ctr"/>
            <a:r>
              <a:rPr sz="850" b="1">
                <a:solidFill>
                  <a:srgbClr val="38BDF8"/>
                </a:solidFill>
                <a:latin typeface="Arial"/>
              </a:rPr>
              <a:t>●  SECCIÓN 4.2 // MEDIDAS DE HARDENING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601200" y="347472"/>
            <a:ext cx="1828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50" b="1">
                <a:solidFill>
                  <a:srgbClr val="64748B"/>
                </a:solidFill>
                <a:latin typeface="Consolas"/>
              </a:rPr>
              <a:t>SLIDE 07 / 14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676656"/>
            <a:ext cx="10698480" cy="438912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r>
              <a:rPr sz="2000" b="1">
                <a:solidFill>
                  <a:srgbClr val="FFFFFF"/>
                </a:solidFill>
                <a:latin typeface="Arial"/>
              </a:rPr>
              <a:t>Medida 2: Restringir las Conexiones Permitidas (pg_hba.conf)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133856"/>
            <a:ext cx="10698480" cy="292608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r>
              <a:rPr sz="1050">
                <a:solidFill>
                  <a:srgbClr val="94A3B8"/>
                </a:solidFill>
                <a:latin typeface="Arial"/>
              </a:rPr>
              <a:t>Filtrado estricto por subred y regla de denegación explícita para tráfico no autorizado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572768"/>
            <a:ext cx="5166360" cy="4892040"/>
          </a:xfrm>
          <a:prstGeom prst="roundRect">
            <a:avLst/>
          </a:prstGeom>
          <a:solidFill>
            <a:srgbClr val="141C30"/>
          </a:solidFill>
          <a:ln w="19050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32688" y="1737360"/>
            <a:ext cx="4764024" cy="31546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</a:pPr>
            <a:r>
              <a:rPr sz="1200" b="1">
                <a:solidFill>
                  <a:srgbClr val="38BDF8"/>
                </a:solidFill>
                <a:latin typeface="Arial"/>
              </a:rPr>
              <a:t>🧱 Control de Acceso Basado en Host (pg_hba.conf)</a:t>
            </a:r>
          </a:p>
          <a:p>
            <a:pPr>
              <a:lnSpc>
                <a:spcPct val="115000"/>
              </a:lnSpc>
              <a:spcAft>
                <a:spcPts val="500"/>
              </a:spcAft>
            </a:pPr>
            <a:r>
              <a:rPr sz="900" b="1">
                <a:solidFill>
                  <a:srgbClr val="38BDF8"/>
                </a:solidFill>
                <a:latin typeface="Arial"/>
              </a:rPr>
              <a:t>•  </a:t>
            </a:r>
            <a:r>
              <a:rPr sz="900" b="1">
                <a:solidFill>
                  <a:srgbClr val="FFFFFF"/>
                </a:solidFill>
                <a:latin typeface="Arial"/>
              </a:rPr>
              <a:t>Función del Archivo:</a:t>
            </a:r>
            <a:r>
              <a:rPr sz="850">
                <a:solidFill>
                  <a:srgbClr val="94A3B8"/>
                </a:solidFill>
                <a:latin typeface="Arial"/>
              </a:rPr>
              <a:t> Decide qué usuarios pueden conectarse, desde qué direcciones y con qué método de autenticación.</a:t>
            </a:r>
          </a:p>
          <a:p>
            <a:pPr>
              <a:lnSpc>
                <a:spcPct val="115000"/>
              </a:lnSpc>
              <a:spcAft>
                <a:spcPts val="500"/>
              </a:spcAft>
            </a:pPr>
            <a:r>
              <a:rPr sz="900" b="1">
                <a:solidFill>
                  <a:srgbClr val="38BDF8"/>
                </a:solidFill>
                <a:latin typeface="Arial"/>
              </a:rPr>
              <a:t>•  </a:t>
            </a:r>
            <a:r>
              <a:rPr sz="900" b="1">
                <a:solidFill>
                  <a:srgbClr val="FFFFFF"/>
                </a:solidFill>
                <a:latin typeface="Arial"/>
              </a:rPr>
              <a:t>Evaluación de Reglas (PGDG 2026a):</a:t>
            </a:r>
            <a:r>
              <a:rPr sz="850">
                <a:solidFill>
                  <a:srgbClr val="94A3B8"/>
                </a:solidFill>
                <a:latin typeface="Arial"/>
              </a:rPr>
              <a:t> Las reglas se evalúan en orden secuencial según tipo de conexión, base, usuario y origen.</a:t>
            </a:r>
          </a:p>
          <a:p>
            <a:pPr>
              <a:lnSpc>
                <a:spcPct val="115000"/>
              </a:lnSpc>
              <a:spcAft>
                <a:spcPts val="500"/>
              </a:spcAft>
            </a:pPr>
            <a:r>
              <a:rPr sz="900" b="1">
                <a:solidFill>
                  <a:srgbClr val="38BDF8"/>
                </a:solidFill>
                <a:latin typeface="Arial"/>
              </a:rPr>
              <a:t>•  </a:t>
            </a:r>
            <a:r>
              <a:rPr sz="900" b="1">
                <a:solidFill>
                  <a:srgbClr val="FFFFFF"/>
                </a:solidFill>
                <a:latin typeface="Arial"/>
              </a:rPr>
              <a:t>Acceso Administrativo Local:</a:t>
            </a:r>
            <a:r>
              <a:rPr sz="850">
                <a:solidFill>
                  <a:srgbClr val="94A3B8"/>
                </a:solidFill>
                <a:latin typeface="Arial"/>
              </a:rPr>
              <a:t> El usuario 'postgres' se mantiene restringido exclusivamente a acceso local mediante socket 'peer'.</a:t>
            </a:r>
          </a:p>
          <a:p>
            <a:pPr>
              <a:lnSpc>
                <a:spcPct val="115000"/>
              </a:lnSpc>
              <a:spcAft>
                <a:spcPts val="500"/>
              </a:spcAft>
            </a:pPr>
            <a:r>
              <a:rPr sz="900" b="1">
                <a:solidFill>
                  <a:srgbClr val="38BDF8"/>
                </a:solidFill>
                <a:latin typeface="Arial"/>
              </a:rPr>
              <a:t>•  </a:t>
            </a:r>
            <a:r>
              <a:rPr sz="900" b="1">
                <a:solidFill>
                  <a:srgbClr val="FFFFFF"/>
                </a:solidFill>
                <a:latin typeface="Arial"/>
              </a:rPr>
              <a:t>Coherencia de Usuario:</a:t>
            </a:r>
            <a:r>
              <a:rPr sz="850">
                <a:solidFill>
                  <a:srgbClr val="94A3B8"/>
                </a:solidFill>
                <a:latin typeface="Arial"/>
              </a:rPr>
              <a:t> Se define el usuario 'app_user' para evitar inconsistencias con los permisos creados posteriormente.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932688" y="5184648"/>
            <a:ext cx="4764024" cy="1133856"/>
          </a:xfrm>
          <a:prstGeom prst="roundRect">
            <a:avLst/>
          </a:prstGeom>
          <a:solidFill>
            <a:srgbClr val="0B162C"/>
          </a:solidFill>
          <a:ln w="1905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1024128" y="5257800"/>
            <a:ext cx="2807208" cy="182880"/>
          </a:xfrm>
          <a:prstGeom prst="roundRect">
            <a:avLst/>
          </a:prstGeom>
          <a:solidFill>
            <a:srgbClr val="142A50"/>
          </a:solidFill>
          <a:ln w="9525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" rIns="45720" tIns="0" bIns="0"/>
          <a:lstStyle/>
          <a:p>
            <a:pPr algn="ctr"/>
            <a:r>
              <a:rPr sz="700" b="1">
                <a:solidFill>
                  <a:srgbClr val="38BDF8"/>
                </a:solidFill>
                <a:latin typeface="Consolas"/>
              </a:rPr>
              <a:t>⚡ REGLAS CONFIGURADAS EN PG_HBA.CONF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42416" y="5458968"/>
            <a:ext cx="4544568" cy="822960"/>
          </a:xfrm>
          <a:prstGeom prst="rect">
            <a:avLst/>
          </a:prstGeom>
          <a:noFill/>
        </p:spPr>
        <p:txBody>
          <a:bodyPr wrap="square" lIns="0" tIns="0" bIns="0" rIns="0">
            <a:spAutoFit/>
          </a:bodyPr>
          <a:lstStyle/>
          <a:p>
            <a:pPr>
              <a:spcAft>
                <a:spcPts val="200"/>
              </a:spcAft>
            </a:pPr>
            <a:r>
              <a:rPr sz="850">
                <a:solidFill>
                  <a:srgbClr val="38BDF8"/>
                </a:solidFill>
                <a:latin typeface="Consolas"/>
              </a:rPr>
              <a:t>local   all           postgres   peer</a:t>
            </a:r>
          </a:p>
          <a:p>
            <a:pPr>
              <a:spcAft>
                <a:spcPts val="200"/>
              </a:spcAft>
            </a:pPr>
            <a:r>
              <a:rPr sz="850">
                <a:solidFill>
                  <a:srgbClr val="38BDF8"/>
                </a:solidFill>
                <a:latin typeface="Consolas"/>
              </a:rPr>
              <a:t>hostssl app_practica  app_user   192.168.1.0/24  scram-sha-256</a:t>
            </a:r>
          </a:p>
          <a:p>
            <a:pPr>
              <a:spcAft>
                <a:spcPts val="200"/>
              </a:spcAft>
            </a:pPr>
            <a:r>
              <a:rPr sz="850">
                <a:solidFill>
                  <a:srgbClr val="38BDF8"/>
                </a:solidFill>
                <a:latin typeface="Consolas"/>
              </a:rPr>
              <a:t>host    all           all        0.0.0.0/0       reject</a:t>
            </a:r>
          </a:p>
          <a:p>
            <a:pPr>
              <a:spcAft>
                <a:spcPts val="200"/>
              </a:spcAft>
            </a:pPr>
            <a:r>
              <a:rPr sz="850">
                <a:solidFill>
                  <a:srgbClr val="38BDF8"/>
                </a:solidFill>
                <a:latin typeface="Consolas"/>
              </a:rPr>
              <a:t>host    all           all        ::/0            reject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32688" y="6135624"/>
            <a:ext cx="4764024" cy="256032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r>
              <a:rPr sz="800" b="1">
                <a:solidFill>
                  <a:srgbClr val="10B981"/>
                </a:solidFill>
                <a:latin typeface="Arial"/>
              </a:rPr>
              <a:t>● REGLAS FIJADAS SEGÚN SECCIÓN 4.2 DEL INFORME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291072" y="1572768"/>
            <a:ext cx="5166360" cy="4892040"/>
          </a:xfrm>
          <a:prstGeom prst="roundRect">
            <a:avLst/>
          </a:prstGeom>
          <a:solidFill>
            <a:srgbClr val="101524"/>
          </a:solidFill>
          <a:ln w="12700">
            <a:solidFill>
              <a:srgbClr val="232D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92240" y="1737360"/>
            <a:ext cx="4764024" cy="31546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</a:pPr>
            <a:r>
              <a:rPr sz="1200" b="1">
                <a:solidFill>
                  <a:srgbClr val="FFFFFF"/>
                </a:solidFill>
                <a:latin typeface="Arial"/>
              </a:rPr>
              <a:t>🛑 Explicación de las Reglas Configuradas</a:t>
            </a:r>
          </a:p>
          <a:p>
            <a:pPr>
              <a:lnSpc>
                <a:spcPct val="115000"/>
              </a:lnSpc>
              <a:spcAft>
                <a:spcPts val="500"/>
              </a:spcAft>
            </a:pPr>
            <a:r>
              <a:rPr sz="900" b="1">
                <a:solidFill>
                  <a:srgbClr val="3B82F6"/>
                </a:solidFill>
                <a:latin typeface="Arial"/>
              </a:rPr>
              <a:t>•  </a:t>
            </a:r>
            <a:r>
              <a:rPr sz="900" b="1">
                <a:solidFill>
                  <a:srgbClr val="FFFFFF"/>
                </a:solidFill>
                <a:latin typeface="Arial"/>
              </a:rPr>
              <a:t>local all postgres peer:</a:t>
            </a:r>
            <a:r>
              <a:rPr sz="850">
                <a:solidFill>
                  <a:srgbClr val="94A3B8"/>
                </a:solidFill>
                <a:latin typeface="Arial"/>
              </a:rPr>
              <a:t> El superusuario no puede ser accedido a través de la red; solo usuarios locales con permiso de SO.</a:t>
            </a:r>
          </a:p>
          <a:p>
            <a:pPr>
              <a:lnSpc>
                <a:spcPct val="115000"/>
              </a:lnSpc>
              <a:spcAft>
                <a:spcPts val="500"/>
              </a:spcAft>
            </a:pPr>
            <a:r>
              <a:rPr sz="900" b="1">
                <a:solidFill>
                  <a:srgbClr val="3B82F6"/>
                </a:solidFill>
                <a:latin typeface="Arial"/>
              </a:rPr>
              <a:t>•  </a:t>
            </a:r>
            <a:r>
              <a:rPr sz="900" b="1">
                <a:solidFill>
                  <a:srgbClr val="FFFFFF"/>
                </a:solidFill>
                <a:latin typeface="Arial"/>
              </a:rPr>
              <a:t>hostssl app_practica app_user 192.168.1.0/24 scram-sha-256:</a:t>
            </a:r>
            <a:r>
              <a:rPr sz="850">
                <a:solidFill>
                  <a:srgbClr val="94A3B8"/>
                </a:solidFill>
                <a:latin typeface="Arial"/>
              </a:rPr>
              <a:t> Permite al usuario de la aplicación conectarse únicamente desde la subred definida y exigiendo TLS.</a:t>
            </a:r>
          </a:p>
          <a:p>
            <a:pPr>
              <a:lnSpc>
                <a:spcPct val="115000"/>
              </a:lnSpc>
              <a:spcAft>
                <a:spcPts val="500"/>
              </a:spcAft>
            </a:pPr>
            <a:r>
              <a:rPr sz="900" b="1">
                <a:solidFill>
                  <a:srgbClr val="3B82F6"/>
                </a:solidFill>
                <a:latin typeface="Arial"/>
              </a:rPr>
              <a:t>•  </a:t>
            </a:r>
            <a:r>
              <a:rPr sz="900" b="1">
                <a:solidFill>
                  <a:srgbClr val="FFFFFF"/>
                </a:solidFill>
                <a:latin typeface="Arial"/>
              </a:rPr>
              <a:t>host all all 0.0.0.0/0 reject:</a:t>
            </a:r>
            <a:r>
              <a:rPr sz="850">
                <a:solidFill>
                  <a:srgbClr val="94A3B8"/>
                </a:solidFill>
                <a:latin typeface="Arial"/>
              </a:rPr>
              <a:t> Rechaza explícitamente cualquier otra conexión IPv4 no autorizada.</a:t>
            </a:r>
          </a:p>
          <a:p>
            <a:pPr>
              <a:lnSpc>
                <a:spcPct val="115000"/>
              </a:lnSpc>
              <a:spcAft>
                <a:spcPts val="500"/>
              </a:spcAft>
            </a:pPr>
            <a:r>
              <a:rPr sz="900" b="1">
                <a:solidFill>
                  <a:srgbClr val="3B82F6"/>
                </a:solidFill>
                <a:latin typeface="Arial"/>
              </a:rPr>
              <a:t>•  </a:t>
            </a:r>
            <a:r>
              <a:rPr sz="900" b="1">
                <a:solidFill>
                  <a:srgbClr val="FFFFFF"/>
                </a:solidFill>
                <a:latin typeface="Arial"/>
              </a:rPr>
              <a:t>host all all :</a:t>
            </a:r>
            <a:r>
              <a:rPr sz="850">
                <a:solidFill>
                  <a:srgbClr val="94A3B8"/>
                </a:solidFill>
                <a:latin typeface="Arial"/>
              </a:rPr>
              <a:t> :/0 reject: Rechaza explícitamente cualquier intento de conexión IPv6 no catalogado.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492240" y="5184648"/>
            <a:ext cx="4764024" cy="1133856"/>
          </a:xfrm>
          <a:prstGeom prst="roundRect">
            <a:avLst/>
          </a:prstGeom>
          <a:solidFill>
            <a:srgbClr val="0B162C"/>
          </a:solidFill>
          <a:ln w="1905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6583680" y="5257800"/>
            <a:ext cx="2514600" cy="182880"/>
          </a:xfrm>
          <a:prstGeom prst="roundRect">
            <a:avLst/>
          </a:prstGeom>
          <a:solidFill>
            <a:srgbClr val="142A50"/>
          </a:solidFill>
          <a:ln w="9525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" rIns="45720" tIns="0" bIns="0"/>
          <a:lstStyle/>
          <a:p>
            <a:pPr algn="ctr"/>
            <a:r>
              <a:rPr sz="700" b="1">
                <a:solidFill>
                  <a:srgbClr val="38BDF8"/>
                </a:solidFill>
                <a:latin typeface="Consolas"/>
              </a:rPr>
              <a:t>⚡ SEGMENTACIÓN DE RED DE PRUEBAS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601968" y="5458968"/>
            <a:ext cx="4544568" cy="822960"/>
          </a:xfrm>
          <a:prstGeom prst="rect">
            <a:avLst/>
          </a:prstGeom>
          <a:noFill/>
        </p:spPr>
        <p:txBody>
          <a:bodyPr wrap="square" lIns="0" tIns="0" bIns="0" rIns="0">
            <a:spAutoFit/>
          </a:bodyPr>
          <a:lstStyle/>
          <a:p>
            <a:pPr>
              <a:spcAft>
                <a:spcPts val="200"/>
              </a:spcAft>
            </a:pPr>
            <a:r>
              <a:rPr sz="850">
                <a:solidFill>
                  <a:srgbClr val="38BDF8"/>
                </a:solidFill>
                <a:latin typeface="Consolas"/>
              </a:rPr>
              <a:t>Red Autorizada: 192.168.1.0/24 (LAN de laboratorio)</a:t>
            </a:r>
          </a:p>
          <a:p>
            <a:pPr>
              <a:spcAft>
                <a:spcPts val="200"/>
              </a:spcAft>
            </a:pPr>
            <a:r>
              <a:rPr sz="850">
                <a:solidFill>
                  <a:srgbClr val="38BDF8"/>
                </a:solidFill>
                <a:latin typeface="Consolas"/>
              </a:rPr>
              <a:t>Base Específica: app_practica (sin acceso a otras BD)</a:t>
            </a:r>
          </a:p>
          <a:p>
            <a:pPr>
              <a:spcAft>
                <a:spcPts val="200"/>
              </a:spcAft>
            </a:pPr>
            <a:r>
              <a:rPr sz="850">
                <a:solidFill>
                  <a:srgbClr val="38BDF8"/>
                </a:solidFill>
                <a:latin typeface="Consolas"/>
              </a:rPr>
              <a:t>Método de Red: hostssl (requiere cifrado TLS)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92240" y="6135624"/>
            <a:ext cx="4764024" cy="256032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r>
              <a:rPr sz="800" b="1">
                <a:solidFill>
                  <a:srgbClr val="EF4444"/>
                </a:solidFill>
                <a:latin typeface="Arial"/>
              </a:rPr>
              <a:t>● PRINCIPIO: LO NO PERMITIDO SE RECHAZA</a:t>
            </a:r>
          </a:p>
        </p:txBody>
      </p:sp>
    </p:spTree>
  </p:cSld>
  <p:transition spd="med">
    <p:fade/>
  </p:transition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90C1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347472"/>
            <a:ext cx="3474720" cy="274320"/>
          </a:xfrm>
          <a:prstGeom prst="roundRect">
            <a:avLst/>
          </a:prstGeom>
          <a:solidFill>
            <a:srgbClr val="121C34"/>
          </a:solidFill>
          <a:ln w="12700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18288" bIns="18288"/>
          <a:lstStyle/>
          <a:p>
            <a:pPr algn="ctr"/>
            <a:r>
              <a:rPr sz="850" b="1">
                <a:solidFill>
                  <a:srgbClr val="38BDF8"/>
                </a:solidFill>
                <a:latin typeface="Arial"/>
              </a:rPr>
              <a:t>●  SECCIÓN 4.3 // MEDIDAS DE HARDENING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601200" y="347472"/>
            <a:ext cx="1828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50" b="1">
                <a:solidFill>
                  <a:srgbClr val="64748B"/>
                </a:solidFill>
                <a:latin typeface="Consolas"/>
              </a:rPr>
              <a:t>SLIDE 08 / 14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676656"/>
            <a:ext cx="10698480" cy="438912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r>
              <a:rPr sz="2000" b="1">
                <a:solidFill>
                  <a:srgbClr val="FFFFFF"/>
                </a:solidFill>
                <a:latin typeface="Arial"/>
              </a:rPr>
              <a:t>Medida 3: Usar Autenticación Segura (SCRAM-SHA-256)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133856"/>
            <a:ext cx="10698480" cy="292608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r>
              <a:rPr sz="1050">
                <a:solidFill>
                  <a:srgbClr val="94A3B8"/>
                </a:solidFill>
                <a:latin typeface="Arial"/>
              </a:rPr>
              <a:t>Configuración del motor criptográfico y creación de la base de datos de práctica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572768"/>
            <a:ext cx="5166360" cy="4892040"/>
          </a:xfrm>
          <a:prstGeom prst="roundRect">
            <a:avLst/>
          </a:prstGeom>
          <a:solidFill>
            <a:srgbClr val="141C30"/>
          </a:solidFill>
          <a:ln w="19050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32688" y="1737360"/>
            <a:ext cx="4764024" cy="31546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</a:pPr>
            <a:r>
              <a:rPr sz="1200" b="1">
                <a:solidFill>
                  <a:srgbClr val="38BDF8"/>
                </a:solidFill>
                <a:latin typeface="Arial"/>
              </a:rPr>
              <a:t>🔑 Configuración de SCRAM-SHA-256 en postgresql.conf</a:t>
            </a:r>
          </a:p>
          <a:p>
            <a:pPr>
              <a:lnSpc>
                <a:spcPct val="115000"/>
              </a:lnSpc>
              <a:spcAft>
                <a:spcPts val="500"/>
              </a:spcAft>
            </a:pPr>
            <a:r>
              <a:rPr sz="900" b="1">
                <a:solidFill>
                  <a:srgbClr val="38BDF8"/>
                </a:solidFill>
                <a:latin typeface="Arial"/>
              </a:rPr>
              <a:t>•  </a:t>
            </a:r>
            <a:r>
              <a:rPr sz="900" b="1">
                <a:solidFill>
                  <a:srgbClr val="FFFFFF"/>
                </a:solidFill>
                <a:latin typeface="Arial"/>
              </a:rPr>
              <a:t>Cifrado de Contraseñas Moderno:</a:t>
            </a:r>
            <a:r>
              <a:rPr sz="850">
                <a:solidFill>
                  <a:srgbClr val="94A3B8"/>
                </a:solidFill>
                <a:latin typeface="Arial"/>
              </a:rPr>
              <a:t> Sustituye esquemas antiguos (como MD5) por SCRAM-SHA-256.</a:t>
            </a:r>
          </a:p>
          <a:p>
            <a:pPr>
              <a:lnSpc>
                <a:spcPct val="115000"/>
              </a:lnSpc>
              <a:spcAft>
                <a:spcPts val="500"/>
              </a:spcAft>
            </a:pPr>
            <a:r>
              <a:rPr sz="900" b="1">
                <a:solidFill>
                  <a:srgbClr val="38BDF8"/>
                </a:solidFill>
                <a:latin typeface="Arial"/>
              </a:rPr>
              <a:t>•  </a:t>
            </a:r>
            <a:r>
              <a:rPr sz="900" b="1">
                <a:solidFill>
                  <a:srgbClr val="FFFFFF"/>
                </a:solidFill>
                <a:latin typeface="Arial"/>
              </a:rPr>
              <a:t>Almacenamiento Seguro:</a:t>
            </a:r>
            <a:r>
              <a:rPr sz="850">
                <a:solidFill>
                  <a:srgbClr val="94A3B8"/>
                </a:solidFill>
                <a:latin typeface="Arial"/>
              </a:rPr>
              <a:t> Genera un hash criptográfico robusto con salt aleatorio para cada contraseña.</a:t>
            </a:r>
          </a:p>
          <a:p>
            <a:pPr>
              <a:lnSpc>
                <a:spcPct val="115000"/>
              </a:lnSpc>
              <a:spcAft>
                <a:spcPts val="500"/>
              </a:spcAft>
            </a:pPr>
            <a:r>
              <a:rPr sz="900" b="1">
                <a:solidFill>
                  <a:srgbClr val="38BDF8"/>
                </a:solidFill>
                <a:latin typeface="Arial"/>
              </a:rPr>
              <a:t>•  </a:t>
            </a:r>
            <a:r>
              <a:rPr sz="900" b="1">
                <a:solidFill>
                  <a:srgbClr val="FFFFFF"/>
                </a:solidFill>
                <a:latin typeface="Arial"/>
              </a:rPr>
              <a:t>Resistencia Criptográfica:</a:t>
            </a:r>
            <a:r>
              <a:rPr sz="850">
                <a:solidFill>
                  <a:srgbClr val="94A3B8"/>
                </a:solidFill>
                <a:latin typeface="Arial"/>
              </a:rPr>
              <a:t> Protege los secretos almacenados en el catálogo ante posibles extracciones no autorizadas.</a:t>
            </a:r>
          </a:p>
          <a:p>
            <a:pPr>
              <a:lnSpc>
                <a:spcPct val="115000"/>
              </a:lnSpc>
              <a:spcAft>
                <a:spcPts val="500"/>
              </a:spcAft>
            </a:pPr>
            <a:r>
              <a:rPr sz="900" b="1">
                <a:solidFill>
                  <a:srgbClr val="38BDF8"/>
                </a:solidFill>
                <a:latin typeface="Arial"/>
              </a:rPr>
              <a:t>•  </a:t>
            </a:r>
            <a:r>
              <a:rPr sz="900" b="1">
                <a:solidFill>
                  <a:srgbClr val="FFFFFF"/>
                </a:solidFill>
                <a:latin typeface="Arial"/>
              </a:rPr>
              <a:t>Activación en postgresql.conf:</a:t>
            </a:r>
            <a:r>
              <a:rPr sz="850">
                <a:solidFill>
                  <a:srgbClr val="94A3B8"/>
                </a:solidFill>
                <a:latin typeface="Arial"/>
              </a:rPr>
              <a:t> Se define el parámetro 'password_encryption' antes de crear los usuarios.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932688" y="5184648"/>
            <a:ext cx="4764024" cy="1133856"/>
          </a:xfrm>
          <a:prstGeom prst="roundRect">
            <a:avLst/>
          </a:prstGeom>
          <a:solidFill>
            <a:srgbClr val="0B162C"/>
          </a:solidFill>
          <a:ln w="1905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1024128" y="5257800"/>
            <a:ext cx="3108960" cy="182880"/>
          </a:xfrm>
          <a:prstGeom prst="roundRect">
            <a:avLst/>
          </a:prstGeom>
          <a:solidFill>
            <a:srgbClr val="142A50"/>
          </a:solidFill>
          <a:ln w="9525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" rIns="45720" tIns="0" bIns="0"/>
          <a:lstStyle/>
          <a:p>
            <a:pPr algn="ctr"/>
            <a:r>
              <a:rPr sz="700" b="1">
                <a:solidFill>
                  <a:srgbClr val="38BDF8"/>
                </a:solidFill>
                <a:latin typeface="Consolas"/>
              </a:rPr>
              <a:t>⚡ DIRECTIVA EN /ETC/POSTGRESQL/16/MAIN/POSTGRESQL.CONF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42416" y="5458968"/>
            <a:ext cx="4544568" cy="822960"/>
          </a:xfrm>
          <a:prstGeom prst="rect">
            <a:avLst/>
          </a:prstGeom>
          <a:noFill/>
        </p:spPr>
        <p:txBody>
          <a:bodyPr wrap="square" lIns="0" tIns="0" bIns="0" rIns="0">
            <a:spAutoFit/>
          </a:bodyPr>
          <a:lstStyle/>
          <a:p>
            <a:pPr>
              <a:spcAft>
                <a:spcPts val="200"/>
              </a:spcAft>
            </a:pPr>
            <a:r>
              <a:rPr sz="800" i="1">
                <a:solidFill>
                  <a:srgbClr val="64748B"/>
                </a:solidFill>
                <a:latin typeface="Consolas"/>
              </a:rPr>
              <a:t># En postgresql.conf</a:t>
            </a:r>
          </a:p>
          <a:p>
            <a:pPr>
              <a:spcAft>
                <a:spcPts val="200"/>
              </a:spcAft>
            </a:pPr>
            <a:r>
              <a:rPr sz="850" b="1">
                <a:solidFill>
                  <a:srgbClr val="38BDF8"/>
                </a:solidFill>
                <a:latin typeface="Consolas"/>
              </a:rPr>
              <a:t>password_encryption =</a:t>
            </a:r>
            <a:r>
              <a:rPr sz="850">
                <a:solidFill>
                  <a:srgbClr val="D8B4FE"/>
                </a:solidFill>
                <a:latin typeface="Consolas"/>
              </a:rPr>
              <a:t> 'scram-sha-256'</a:t>
            </a:r>
          </a:p>
          <a:p>
            <a:pPr>
              <a:spcAft>
                <a:spcPts val="200"/>
              </a:spcAft>
            </a:pPr>
            <a:r>
              <a:rPr sz="800" i="1">
                <a:solidFill>
                  <a:srgbClr val="64748B"/>
                </a:solidFill>
                <a:latin typeface="Consolas"/>
              </a:rPr>
              <a:t># Garantiza que todo nuevo usuario almacene hash SCRAM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32688" y="6135624"/>
            <a:ext cx="4764024" cy="256032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r>
              <a:rPr sz="800" b="1">
                <a:solidFill>
                  <a:srgbClr val="10B981"/>
                </a:solidFill>
                <a:latin typeface="Arial"/>
              </a:rPr>
              <a:t>● SCRAM-SHA-256 ACTIVADO EN postgresql.conf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291072" y="1572768"/>
            <a:ext cx="5166360" cy="4892040"/>
          </a:xfrm>
          <a:prstGeom prst="roundRect">
            <a:avLst/>
          </a:prstGeom>
          <a:solidFill>
            <a:srgbClr val="101524"/>
          </a:solidFill>
          <a:ln w="12700">
            <a:solidFill>
              <a:srgbClr val="232D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92240" y="1737360"/>
            <a:ext cx="4764024" cy="31546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</a:pPr>
            <a:r>
              <a:rPr sz="1200" b="1">
                <a:solidFill>
                  <a:srgbClr val="FFFFFF"/>
                </a:solidFill>
                <a:latin typeface="Arial"/>
              </a:rPr>
              <a:t>👤 Creación de Base de Datos y Usuario de Práctica</a:t>
            </a:r>
          </a:p>
          <a:p>
            <a:pPr>
              <a:lnSpc>
                <a:spcPct val="115000"/>
              </a:lnSpc>
              <a:spcAft>
                <a:spcPts val="500"/>
              </a:spcAft>
            </a:pPr>
            <a:r>
              <a:rPr sz="900" b="1">
                <a:solidFill>
                  <a:srgbClr val="3B82F6"/>
                </a:solidFill>
                <a:latin typeface="Arial"/>
              </a:rPr>
              <a:t>•  </a:t>
            </a:r>
            <a:r>
              <a:rPr sz="900" b="1">
                <a:solidFill>
                  <a:srgbClr val="FFFFFF"/>
                </a:solidFill>
                <a:latin typeface="Arial"/>
              </a:rPr>
              <a:t>Base de Datos Específica:</a:t>
            </a:r>
            <a:r>
              <a:rPr sz="850">
                <a:solidFill>
                  <a:srgbClr val="94A3B8"/>
                </a:solidFill>
                <a:latin typeface="Arial"/>
              </a:rPr>
              <a:t> Se crea la base 'app_practica' dedicada a la actividad.</a:t>
            </a:r>
          </a:p>
          <a:p>
            <a:pPr>
              <a:lnSpc>
                <a:spcPct val="115000"/>
              </a:lnSpc>
              <a:spcAft>
                <a:spcPts val="500"/>
              </a:spcAft>
            </a:pPr>
            <a:r>
              <a:rPr sz="900" b="1">
                <a:solidFill>
                  <a:srgbClr val="3B82F6"/>
                </a:solidFill>
                <a:latin typeface="Arial"/>
              </a:rPr>
              <a:t>•  </a:t>
            </a:r>
            <a:r>
              <a:rPr sz="900" b="1">
                <a:solidFill>
                  <a:srgbClr val="FFFFFF"/>
                </a:solidFill>
                <a:latin typeface="Arial"/>
              </a:rPr>
              <a:t>Usuario de Aplicación:</a:t>
            </a:r>
            <a:r>
              <a:rPr sz="850">
                <a:solidFill>
                  <a:srgbClr val="94A3B8"/>
                </a:solidFill>
                <a:latin typeface="Arial"/>
              </a:rPr>
              <a:t> Se crea el usuario 'app_user' asociado a la regla de conexión.</a:t>
            </a:r>
          </a:p>
          <a:p>
            <a:pPr>
              <a:lnSpc>
                <a:spcPct val="115000"/>
              </a:lnSpc>
              <a:spcAft>
                <a:spcPts val="500"/>
              </a:spcAft>
            </a:pPr>
            <a:r>
              <a:rPr sz="900" b="1">
                <a:solidFill>
                  <a:srgbClr val="3B82F6"/>
                </a:solidFill>
                <a:latin typeface="Arial"/>
              </a:rPr>
              <a:t>•  </a:t>
            </a:r>
            <a:r>
              <a:rPr sz="900" b="1">
                <a:solidFill>
                  <a:srgbClr val="FFFFFF"/>
                </a:solidFill>
                <a:latin typeface="Arial"/>
              </a:rPr>
              <a:t>Contraseña de Ejemplo:</a:t>
            </a:r>
            <a:r>
              <a:rPr sz="850">
                <a:solidFill>
                  <a:srgbClr val="94A3B8"/>
                </a:solidFill>
                <a:latin typeface="Arial"/>
              </a:rPr>
              <a:t> Se asigna una contraseña robusta de laboratorio ('ClaveDeEjemplo_2026!').</a:t>
            </a:r>
          </a:p>
          <a:p>
            <a:pPr>
              <a:lnSpc>
                <a:spcPct val="115000"/>
              </a:lnSpc>
              <a:spcAft>
                <a:spcPts val="500"/>
              </a:spcAft>
            </a:pPr>
            <a:r>
              <a:rPr sz="900" b="1">
                <a:solidFill>
                  <a:srgbClr val="3B82F6"/>
                </a:solidFill>
                <a:latin typeface="Arial"/>
              </a:rPr>
              <a:t>•  </a:t>
            </a:r>
            <a:r>
              <a:rPr sz="900" b="1">
                <a:solidFill>
                  <a:srgbClr val="FFFFFF"/>
                </a:solidFill>
                <a:latin typeface="Arial"/>
              </a:rPr>
              <a:t>Aclaración del Informe:</a:t>
            </a:r>
            <a:r>
              <a:rPr sz="850">
                <a:solidFill>
                  <a:srgbClr val="94A3B8"/>
                </a:solidFill>
                <a:latin typeface="Arial"/>
              </a:rPr>
              <a:t> Las contraseñas mostradas son de ejemplo y no deben reutilizarse en producción.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492240" y="5184648"/>
            <a:ext cx="4764024" cy="1133856"/>
          </a:xfrm>
          <a:prstGeom prst="roundRect">
            <a:avLst/>
          </a:prstGeom>
          <a:solidFill>
            <a:srgbClr val="0B162C"/>
          </a:solidFill>
          <a:ln w="1905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6583680" y="5257800"/>
            <a:ext cx="2587752" cy="182880"/>
          </a:xfrm>
          <a:prstGeom prst="roundRect">
            <a:avLst/>
          </a:prstGeom>
          <a:solidFill>
            <a:srgbClr val="142A50"/>
          </a:solidFill>
          <a:ln w="9525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" rIns="45720" tIns="0" bIns="0"/>
          <a:lstStyle/>
          <a:p>
            <a:pPr algn="ctr"/>
            <a:r>
              <a:rPr sz="700" b="1">
                <a:solidFill>
                  <a:srgbClr val="38BDF8"/>
                </a:solidFill>
                <a:latin typeface="Consolas"/>
              </a:rPr>
              <a:t>⚡ COMANDOS SQL EJECUTADOS EN PSQL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601968" y="5458968"/>
            <a:ext cx="4544568" cy="822960"/>
          </a:xfrm>
          <a:prstGeom prst="rect">
            <a:avLst/>
          </a:prstGeom>
          <a:noFill/>
        </p:spPr>
        <p:txBody>
          <a:bodyPr wrap="square" lIns="0" tIns="0" bIns="0" rIns="0">
            <a:spAutoFit/>
          </a:bodyPr>
          <a:lstStyle/>
          <a:p>
            <a:pPr>
              <a:spcAft>
                <a:spcPts val="200"/>
              </a:spcAft>
            </a:pPr>
            <a:r>
              <a:rPr sz="800" i="1">
                <a:solidFill>
                  <a:srgbClr val="64748B"/>
                </a:solidFill>
                <a:latin typeface="Consolas"/>
              </a:rPr>
              <a:t>-- Conectado en psql:</a:t>
            </a:r>
          </a:p>
          <a:p>
            <a:pPr>
              <a:spcAft>
                <a:spcPts val="200"/>
              </a:spcAft>
            </a:pPr>
            <a:r>
              <a:rPr sz="850">
                <a:solidFill>
                  <a:srgbClr val="38BDF8"/>
                </a:solidFill>
                <a:latin typeface="Consolas"/>
              </a:rPr>
              <a:t>CREATE DATABASE app_practica;</a:t>
            </a:r>
          </a:p>
          <a:p>
            <a:pPr>
              <a:spcAft>
                <a:spcPts val="200"/>
              </a:spcAft>
            </a:pPr>
            <a:r>
              <a:rPr sz="850">
                <a:solidFill>
                  <a:srgbClr val="38BDF8"/>
                </a:solidFill>
                <a:latin typeface="Consolas"/>
              </a:rPr>
              <a:t>CREATE USER app_user WITH PASSWORD 'ClaveDeEjemplo_2026!';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92240" y="6135624"/>
            <a:ext cx="4764024" cy="256032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r>
              <a:rPr sz="800" b="1">
                <a:solidFill>
                  <a:srgbClr val="38BDF8"/>
                </a:solidFill>
                <a:latin typeface="Arial"/>
              </a:rPr>
              <a:t>● BASE app_practica Y USUARIO app_user CREADOS</a:t>
            </a:r>
          </a:p>
        </p:txBody>
      </p:sp>
    </p:spTree>
  </p:cSld>
  <p:transition spd="med">
    <p:wheel/>
  </p:transition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90C1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347472"/>
            <a:ext cx="3474720" cy="274320"/>
          </a:xfrm>
          <a:prstGeom prst="roundRect">
            <a:avLst/>
          </a:prstGeom>
          <a:solidFill>
            <a:srgbClr val="121C34"/>
          </a:solidFill>
          <a:ln w="12700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18288" bIns="18288"/>
          <a:lstStyle/>
          <a:p>
            <a:pPr algn="ctr"/>
            <a:r>
              <a:rPr sz="850" b="1">
                <a:solidFill>
                  <a:srgbClr val="38BDF8"/>
                </a:solidFill>
                <a:latin typeface="Arial"/>
              </a:rPr>
              <a:t>●  SECCIÓN 4.4 // MEDIDAS DE HARDENING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601200" y="347472"/>
            <a:ext cx="1828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50" b="1">
                <a:solidFill>
                  <a:srgbClr val="64748B"/>
                </a:solidFill>
                <a:latin typeface="Consolas"/>
              </a:rPr>
              <a:t>SLIDE 09 / 14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676656"/>
            <a:ext cx="10698480" cy="438912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r>
              <a:rPr sz="2000" b="1">
                <a:solidFill>
                  <a:srgbClr val="FFFFFF"/>
                </a:solidFill>
                <a:latin typeface="Arial"/>
              </a:rPr>
              <a:t>Medida 4: Aplicar el Principio de Mínimo Privilegio (Roles)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133856"/>
            <a:ext cx="10698480" cy="292608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r>
              <a:rPr sz="1050">
                <a:solidFill>
                  <a:srgbClr val="94A3B8"/>
                </a:solidFill>
                <a:latin typeface="Arial"/>
              </a:rPr>
              <a:t>Creación de roles segregados para lectura y escritura sin privilegios de administrador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572768"/>
            <a:ext cx="5166360" cy="4892040"/>
          </a:xfrm>
          <a:prstGeom prst="roundRect">
            <a:avLst/>
          </a:prstGeom>
          <a:solidFill>
            <a:srgbClr val="141C30"/>
          </a:solidFill>
          <a:ln w="19050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32688" y="1737360"/>
            <a:ext cx="4764024" cy="31546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</a:pPr>
            <a:r>
              <a:rPr sz="1200" b="1">
                <a:solidFill>
                  <a:srgbClr val="38BDF8"/>
                </a:solidFill>
                <a:latin typeface="Arial"/>
              </a:rPr>
              <a:t>👥 Segregación de Funciones mediante Roles</a:t>
            </a:r>
          </a:p>
          <a:p>
            <a:pPr>
              <a:lnSpc>
                <a:spcPct val="115000"/>
              </a:lnSpc>
              <a:spcAft>
                <a:spcPts val="500"/>
              </a:spcAft>
            </a:pPr>
            <a:r>
              <a:rPr sz="900" b="1">
                <a:solidFill>
                  <a:srgbClr val="38BDF8"/>
                </a:solidFill>
                <a:latin typeface="Arial"/>
              </a:rPr>
              <a:t>•  </a:t>
            </a:r>
            <a:r>
              <a:rPr sz="900" b="1">
                <a:solidFill>
                  <a:srgbClr val="FFFFFF"/>
                </a:solidFill>
                <a:latin typeface="Arial"/>
              </a:rPr>
              <a:t>Principio de Menor Privilegio:</a:t>
            </a:r>
            <a:r>
              <a:rPr sz="850">
                <a:solidFill>
                  <a:srgbClr val="94A3B8"/>
                </a:solidFill>
                <a:latin typeface="Arial"/>
              </a:rPr>
              <a:t> Un usuario de aplicación no debe tener permisos de superusuario.</a:t>
            </a:r>
          </a:p>
          <a:p>
            <a:pPr>
              <a:lnSpc>
                <a:spcPct val="115000"/>
              </a:lnSpc>
              <a:spcAft>
                <a:spcPts val="500"/>
              </a:spcAft>
            </a:pPr>
            <a:r>
              <a:rPr sz="900" b="1">
                <a:solidFill>
                  <a:srgbClr val="38BDF8"/>
                </a:solidFill>
                <a:latin typeface="Arial"/>
              </a:rPr>
              <a:t>•  </a:t>
            </a:r>
            <a:r>
              <a:rPr sz="850">
                <a:solidFill>
                  <a:srgbClr val="94A3B8"/>
                </a:solidFill>
                <a:latin typeface="Arial"/>
              </a:rPr>
              <a:t>Cada usuario recibe únicamente los permisos estrictamente necesarios para su función.</a:t>
            </a:r>
          </a:p>
          <a:p>
            <a:pPr>
              <a:lnSpc>
                <a:spcPct val="115000"/>
              </a:lnSpc>
              <a:spcAft>
                <a:spcPts val="500"/>
              </a:spcAft>
            </a:pPr>
            <a:r>
              <a:rPr sz="900" b="1">
                <a:solidFill>
                  <a:srgbClr val="38BDF8"/>
                </a:solidFill>
                <a:latin typeface="Arial"/>
              </a:rPr>
              <a:t>•  </a:t>
            </a:r>
            <a:r>
              <a:rPr sz="900" b="1">
                <a:solidFill>
                  <a:srgbClr val="FFFFFF"/>
                </a:solidFill>
                <a:latin typeface="Arial"/>
              </a:rPr>
              <a:t>Roles de Grupo NOLOGIN:</a:t>
            </a:r>
            <a:r>
              <a:rPr sz="850">
                <a:solidFill>
                  <a:srgbClr val="94A3B8"/>
                </a:solidFill>
                <a:latin typeface="Arial"/>
              </a:rPr>
              <a:t> Se crean 'rol_lectura' y 'rol_escritura' que no permiten inicio de sesión directo.</a:t>
            </a:r>
          </a:p>
          <a:p>
            <a:pPr>
              <a:lnSpc>
                <a:spcPct val="115000"/>
              </a:lnSpc>
              <a:spcAft>
                <a:spcPts val="500"/>
              </a:spcAft>
            </a:pPr>
            <a:r>
              <a:rPr sz="900" b="1">
                <a:solidFill>
                  <a:srgbClr val="38BDF8"/>
                </a:solidFill>
                <a:latin typeface="Arial"/>
              </a:rPr>
              <a:t>•  </a:t>
            </a:r>
            <a:r>
              <a:rPr sz="900" b="1">
                <a:solidFill>
                  <a:srgbClr val="FFFFFF"/>
                </a:solidFill>
                <a:latin typeface="Arial"/>
              </a:rPr>
              <a:t>Administración de Objetos (PGDG 2026b):</a:t>
            </a:r>
            <a:r>
              <a:rPr sz="850">
                <a:solidFill>
                  <a:srgbClr val="94A3B8"/>
                </a:solidFill>
                <a:latin typeface="Arial"/>
              </a:rPr>
              <a:t> PostgreSQL permite conceder o revocar privilegios específicos sobre objetos.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932688" y="5184648"/>
            <a:ext cx="4764024" cy="1133856"/>
          </a:xfrm>
          <a:prstGeom prst="roundRect">
            <a:avLst/>
          </a:prstGeom>
          <a:solidFill>
            <a:srgbClr val="0B162C"/>
          </a:solidFill>
          <a:ln w="1905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1024128" y="5257800"/>
            <a:ext cx="2807208" cy="182880"/>
          </a:xfrm>
          <a:prstGeom prst="roundRect">
            <a:avLst/>
          </a:prstGeom>
          <a:solidFill>
            <a:srgbClr val="142A50"/>
          </a:solidFill>
          <a:ln w="9525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" rIns="45720" tIns="0" bIns="0"/>
          <a:lstStyle/>
          <a:p>
            <a:pPr algn="ctr"/>
            <a:r>
              <a:rPr sz="700" b="1">
                <a:solidFill>
                  <a:srgbClr val="38BDF8"/>
                </a:solidFill>
                <a:latin typeface="Consolas"/>
              </a:rPr>
              <a:t>⚡ CREACIÓN DE ROLES GRUPALES EN PSQL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42416" y="5458968"/>
            <a:ext cx="4544568" cy="822960"/>
          </a:xfrm>
          <a:prstGeom prst="rect">
            <a:avLst/>
          </a:prstGeom>
          <a:noFill/>
        </p:spPr>
        <p:txBody>
          <a:bodyPr wrap="square" lIns="0" tIns="0" bIns="0" rIns="0">
            <a:spAutoFit/>
          </a:bodyPr>
          <a:lstStyle/>
          <a:p>
            <a:pPr>
              <a:spcAft>
                <a:spcPts val="200"/>
              </a:spcAft>
            </a:pPr>
            <a:r>
              <a:rPr sz="850">
                <a:solidFill>
                  <a:srgbClr val="38BDF8"/>
                </a:solidFill>
                <a:latin typeface="Consolas"/>
              </a:rPr>
              <a:t>CREATE ROLE rol_lectura NOLOGIN;</a:t>
            </a:r>
          </a:p>
          <a:p>
            <a:pPr>
              <a:spcAft>
                <a:spcPts val="200"/>
              </a:spcAft>
            </a:pPr>
            <a:r>
              <a:rPr sz="850">
                <a:solidFill>
                  <a:srgbClr val="38BDF8"/>
                </a:solidFill>
                <a:latin typeface="Consolas"/>
              </a:rPr>
              <a:t>CREATE ROLE rol_escritura NOLOGIN;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32688" y="6135624"/>
            <a:ext cx="4764024" cy="256032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r>
              <a:rPr sz="800" b="1">
                <a:solidFill>
                  <a:srgbClr val="10B981"/>
                </a:solidFill>
                <a:latin typeface="Arial"/>
              </a:rPr>
              <a:t>● ROLES NOLOGIN CREADOS CON ÉXITO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291072" y="1572768"/>
            <a:ext cx="5166360" cy="4892040"/>
          </a:xfrm>
          <a:prstGeom prst="roundRect">
            <a:avLst/>
          </a:prstGeom>
          <a:solidFill>
            <a:srgbClr val="101524"/>
          </a:solidFill>
          <a:ln w="12700">
            <a:solidFill>
              <a:srgbClr val="232D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92240" y="1737360"/>
            <a:ext cx="4764024" cy="31546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</a:pPr>
            <a:r>
              <a:rPr sz="1200" b="1">
                <a:solidFill>
                  <a:srgbClr val="FFFFFF"/>
                </a:solidFill>
                <a:latin typeface="Arial"/>
              </a:rPr>
              <a:t>📋 Asignación Selectiva de Privilegios</a:t>
            </a:r>
          </a:p>
          <a:p>
            <a:pPr>
              <a:lnSpc>
                <a:spcPct val="115000"/>
              </a:lnSpc>
              <a:spcAft>
                <a:spcPts val="500"/>
              </a:spcAft>
            </a:pPr>
            <a:r>
              <a:rPr sz="900" b="1">
                <a:solidFill>
                  <a:srgbClr val="3B82F6"/>
                </a:solidFill>
                <a:latin typeface="Arial"/>
              </a:rPr>
              <a:t>•  </a:t>
            </a:r>
            <a:r>
              <a:rPr sz="900" b="1">
                <a:solidFill>
                  <a:srgbClr val="FFFFFF"/>
                </a:solidFill>
                <a:latin typeface="Arial"/>
              </a:rPr>
              <a:t>Permiso de Conexión:</a:t>
            </a:r>
            <a:r>
              <a:rPr sz="850">
                <a:solidFill>
                  <a:srgbClr val="94A3B8"/>
                </a:solidFill>
                <a:latin typeface="Arial"/>
              </a:rPr>
              <a:t> Se permite conectar a 'app_practica' a ambos roles.</a:t>
            </a:r>
          </a:p>
          <a:p>
            <a:pPr>
              <a:lnSpc>
                <a:spcPct val="115000"/>
              </a:lnSpc>
              <a:spcAft>
                <a:spcPts val="500"/>
              </a:spcAft>
            </a:pPr>
            <a:r>
              <a:rPr sz="900" b="1">
                <a:solidFill>
                  <a:srgbClr val="3B82F6"/>
                </a:solidFill>
                <a:latin typeface="Arial"/>
              </a:rPr>
              <a:t>•  </a:t>
            </a:r>
            <a:r>
              <a:rPr sz="900" b="1">
                <a:solidFill>
                  <a:srgbClr val="FFFFFF"/>
                </a:solidFill>
                <a:latin typeface="Arial"/>
              </a:rPr>
              <a:t>Permiso en Esquema:</a:t>
            </a:r>
            <a:r>
              <a:rPr sz="850">
                <a:solidFill>
                  <a:srgbClr val="94A3B8"/>
                </a:solidFill>
                <a:latin typeface="Arial"/>
              </a:rPr>
              <a:t> Se otorga USAGE sobre el esquema 'public'.</a:t>
            </a:r>
          </a:p>
          <a:p>
            <a:pPr>
              <a:lnSpc>
                <a:spcPct val="115000"/>
              </a:lnSpc>
              <a:spcAft>
                <a:spcPts val="500"/>
              </a:spcAft>
            </a:pPr>
            <a:r>
              <a:rPr sz="900" b="1">
                <a:solidFill>
                  <a:srgbClr val="3B82F6"/>
                </a:solidFill>
                <a:latin typeface="Arial"/>
              </a:rPr>
              <a:t>•  </a:t>
            </a:r>
            <a:r>
              <a:rPr sz="900" b="1">
                <a:solidFill>
                  <a:srgbClr val="FFFFFF"/>
                </a:solidFill>
                <a:latin typeface="Arial"/>
              </a:rPr>
              <a:t>Rol de Lectura:</a:t>
            </a:r>
            <a:r>
              <a:rPr sz="850">
                <a:solidFill>
                  <a:srgbClr val="94A3B8"/>
                </a:solidFill>
                <a:latin typeface="Arial"/>
              </a:rPr>
              <a:t> Recibe exclusivamente SELECT en todas las tablas.</a:t>
            </a:r>
          </a:p>
          <a:p>
            <a:pPr>
              <a:lnSpc>
                <a:spcPct val="115000"/>
              </a:lnSpc>
              <a:spcAft>
                <a:spcPts val="500"/>
              </a:spcAft>
            </a:pPr>
            <a:r>
              <a:rPr sz="900" b="1">
                <a:solidFill>
                  <a:srgbClr val="3B82F6"/>
                </a:solidFill>
                <a:latin typeface="Arial"/>
              </a:rPr>
              <a:t>•  </a:t>
            </a:r>
            <a:r>
              <a:rPr sz="900" b="1">
                <a:solidFill>
                  <a:srgbClr val="FFFFFF"/>
                </a:solidFill>
                <a:latin typeface="Arial"/>
              </a:rPr>
              <a:t>Rol de Escritura:</a:t>
            </a:r>
            <a:r>
              <a:rPr sz="850">
                <a:solidFill>
                  <a:srgbClr val="94A3B8"/>
                </a:solidFill>
                <a:latin typeface="Arial"/>
              </a:rPr>
              <a:t> Recibe SELECT, INSERT, UPDATE, DELETE para operaciones de la aplicación.</a:t>
            </a:r>
          </a:p>
          <a:p>
            <a:pPr>
              <a:lnSpc>
                <a:spcPct val="115000"/>
              </a:lnSpc>
              <a:spcAft>
                <a:spcPts val="500"/>
              </a:spcAft>
            </a:pPr>
            <a:r>
              <a:rPr sz="900" b="1">
                <a:solidFill>
                  <a:srgbClr val="3B82F6"/>
                </a:solidFill>
                <a:latin typeface="Arial"/>
              </a:rPr>
              <a:t>•  </a:t>
            </a:r>
            <a:r>
              <a:rPr sz="900" b="1">
                <a:solidFill>
                  <a:srgbClr val="FFFFFF"/>
                </a:solidFill>
                <a:latin typeface="Arial"/>
              </a:rPr>
              <a:t>Membresía:</a:t>
            </a:r>
            <a:r>
              <a:rPr sz="850">
                <a:solidFill>
                  <a:srgbClr val="94A3B8"/>
                </a:solidFill>
                <a:latin typeface="Arial"/>
              </a:rPr>
              <a:t> Se asigna 'rol_escritura' al usuario 'app_user'.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492240" y="5184648"/>
            <a:ext cx="4764024" cy="1133856"/>
          </a:xfrm>
          <a:prstGeom prst="roundRect">
            <a:avLst/>
          </a:prstGeom>
          <a:solidFill>
            <a:srgbClr val="0B162C"/>
          </a:solidFill>
          <a:ln w="1905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6583680" y="5257800"/>
            <a:ext cx="2880360" cy="182880"/>
          </a:xfrm>
          <a:prstGeom prst="roundRect">
            <a:avLst/>
          </a:prstGeom>
          <a:solidFill>
            <a:srgbClr val="142A50"/>
          </a:solidFill>
          <a:ln w="9525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" rIns="45720" tIns="0" bIns="0"/>
          <a:lstStyle/>
          <a:p>
            <a:pPr algn="ctr"/>
            <a:r>
              <a:rPr sz="700" b="1">
                <a:solidFill>
                  <a:srgbClr val="38BDF8"/>
                </a:solidFill>
                <a:latin typeface="Consolas"/>
              </a:rPr>
              <a:t>⚡ SENTENCIAS SQL DE CONCESIÓN (GRANT)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601968" y="5458968"/>
            <a:ext cx="4544568" cy="822960"/>
          </a:xfrm>
          <a:prstGeom prst="rect">
            <a:avLst/>
          </a:prstGeom>
          <a:noFill/>
        </p:spPr>
        <p:txBody>
          <a:bodyPr wrap="square" lIns="0" tIns="0" bIns="0" rIns="0">
            <a:spAutoFit/>
          </a:bodyPr>
          <a:lstStyle/>
          <a:p>
            <a:pPr>
              <a:spcAft>
                <a:spcPts val="200"/>
              </a:spcAft>
            </a:pPr>
            <a:r>
              <a:rPr sz="850">
                <a:solidFill>
                  <a:srgbClr val="38BDF8"/>
                </a:solidFill>
                <a:latin typeface="Consolas"/>
              </a:rPr>
              <a:t>GRANT CONNECT ON DATABASE app_practica TO rol_lectura, rol_escritura;</a:t>
            </a:r>
          </a:p>
          <a:p>
            <a:pPr>
              <a:spcAft>
                <a:spcPts val="200"/>
              </a:spcAft>
            </a:pPr>
            <a:r>
              <a:rPr sz="850">
                <a:solidFill>
                  <a:srgbClr val="38BDF8"/>
                </a:solidFill>
                <a:latin typeface="Consolas"/>
              </a:rPr>
              <a:t>GRANT USAGE ON SCHEMA public TO rol_lectura, rol_escritura;</a:t>
            </a:r>
          </a:p>
          <a:p>
            <a:pPr>
              <a:spcAft>
                <a:spcPts val="200"/>
              </a:spcAft>
            </a:pPr>
            <a:r>
              <a:rPr sz="850">
                <a:solidFill>
                  <a:srgbClr val="38BDF8"/>
                </a:solidFill>
                <a:latin typeface="Consolas"/>
              </a:rPr>
              <a:t>GRANT SELECT ON ALL TABLES IN SCHEMA public TO rol_lectura;</a:t>
            </a:r>
          </a:p>
          <a:p>
            <a:pPr>
              <a:spcAft>
                <a:spcPts val="200"/>
              </a:spcAft>
            </a:pPr>
            <a:r>
              <a:rPr sz="850">
                <a:solidFill>
                  <a:srgbClr val="38BDF8"/>
                </a:solidFill>
                <a:latin typeface="Consolas"/>
              </a:rPr>
              <a:t>GRANT SELECT, INSERT, UPDATE, DELETE ON ALL TABLES IN SCHEMA public TO rol_escritura;</a:t>
            </a:r>
          </a:p>
          <a:p>
            <a:pPr>
              <a:spcAft>
                <a:spcPts val="200"/>
              </a:spcAft>
            </a:pPr>
            <a:r>
              <a:rPr sz="850">
                <a:solidFill>
                  <a:srgbClr val="38BDF8"/>
                </a:solidFill>
                <a:latin typeface="Consolas"/>
              </a:rPr>
              <a:t>GRANT rol_escritura TO app_user;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92240" y="6135624"/>
            <a:ext cx="4764024" cy="256032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r>
              <a:rPr sz="800" b="1">
                <a:solidFill>
                  <a:srgbClr val="38BDF8"/>
                </a:solidFill>
                <a:latin typeface="Arial"/>
              </a:rPr>
              <a:t>● PRIVILEGIOS ASIGNADOS A app_user</a:t>
            </a:r>
          </a:p>
        </p:txBody>
      </p:sp>
    </p:spTree>
  </p:cSld>
  <p:transition spd="med">
    <p:wipe dir="d"/>
  </p:transition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90C1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347472"/>
            <a:ext cx="4128515" cy="274320"/>
          </a:xfrm>
          <a:prstGeom prst="roundRect">
            <a:avLst/>
          </a:prstGeom>
          <a:solidFill>
            <a:srgbClr val="121C34"/>
          </a:solidFill>
          <a:ln w="12700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18288" bIns="18288"/>
          <a:lstStyle/>
          <a:p>
            <a:pPr algn="ctr"/>
            <a:r>
              <a:rPr sz="850" b="1">
                <a:solidFill>
                  <a:srgbClr val="38BDF8"/>
                </a:solidFill>
                <a:latin typeface="Arial"/>
              </a:rPr>
              <a:t>●  SECCIÓN 4.4 // MEDIDAS DE HARDENING (CONT.)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601200" y="347472"/>
            <a:ext cx="1828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50" b="1">
                <a:solidFill>
                  <a:srgbClr val="64748B"/>
                </a:solidFill>
                <a:latin typeface="Consolas"/>
              </a:rPr>
              <a:t>SLIDE 10 / 14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676656"/>
            <a:ext cx="10698480" cy="438912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r>
              <a:rPr sz="2000" b="1">
                <a:solidFill>
                  <a:srgbClr val="FFFFFF"/>
                </a:solidFill>
                <a:latin typeface="Arial"/>
              </a:rPr>
              <a:t>Medida 4: Saneamiento del Esquema Public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133856"/>
            <a:ext cx="10698480" cy="292608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r>
              <a:rPr sz="1050">
                <a:solidFill>
                  <a:srgbClr val="94A3B8"/>
                </a:solidFill>
                <a:latin typeface="Arial"/>
              </a:rPr>
              <a:t>Revocación del permiso de creación indiscriminada de objetos para usuarios no autorizados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572768"/>
            <a:ext cx="5166360" cy="4892040"/>
          </a:xfrm>
          <a:prstGeom prst="roundRect">
            <a:avLst/>
          </a:prstGeom>
          <a:solidFill>
            <a:srgbClr val="141C30"/>
          </a:solidFill>
          <a:ln w="19050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32688" y="1737360"/>
            <a:ext cx="4764024" cy="31546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</a:pPr>
            <a:r>
              <a:rPr sz="1200" b="1">
                <a:solidFill>
                  <a:srgbClr val="38BDF8"/>
                </a:solidFill>
                <a:latin typeface="Arial"/>
              </a:rPr>
              <a:t>🚫 Revocación del Permiso CREATE en Esquema Public</a:t>
            </a:r>
          </a:p>
          <a:p>
            <a:pPr>
              <a:lnSpc>
                <a:spcPct val="115000"/>
              </a:lnSpc>
              <a:spcAft>
                <a:spcPts val="500"/>
              </a:spcAft>
            </a:pPr>
            <a:r>
              <a:rPr sz="900" b="1">
                <a:solidFill>
                  <a:srgbClr val="38BDF8"/>
                </a:solidFill>
                <a:latin typeface="Arial"/>
              </a:rPr>
              <a:t>•  </a:t>
            </a:r>
            <a:r>
              <a:rPr sz="900" b="1">
                <a:solidFill>
                  <a:srgbClr val="FFFFFF"/>
                </a:solidFill>
                <a:latin typeface="Arial"/>
              </a:rPr>
              <a:t>Comportamiento Predeterminado en PostgreSQL:</a:t>
            </a:r>
            <a:r>
              <a:rPr sz="850">
                <a:solidFill>
                  <a:srgbClr val="94A3B8"/>
                </a:solidFill>
                <a:latin typeface="Arial"/>
              </a:rPr>
              <a:t> Cualquier usuario conectado tiene la capacidad de crear tablas en el esquema public.</a:t>
            </a:r>
          </a:p>
          <a:p>
            <a:pPr>
              <a:lnSpc>
                <a:spcPct val="115000"/>
              </a:lnSpc>
              <a:spcAft>
                <a:spcPts val="500"/>
              </a:spcAft>
            </a:pPr>
            <a:r>
              <a:rPr sz="900" b="1">
                <a:solidFill>
                  <a:srgbClr val="38BDF8"/>
                </a:solidFill>
                <a:latin typeface="Arial"/>
              </a:rPr>
              <a:t>•  </a:t>
            </a:r>
            <a:r>
              <a:rPr sz="900" b="1">
                <a:solidFill>
                  <a:srgbClr val="FFFFFF"/>
                </a:solidFill>
                <a:latin typeface="Arial"/>
              </a:rPr>
              <a:t>Riesgo Identificado:</a:t>
            </a:r>
            <a:r>
              <a:rPr sz="850">
                <a:solidFill>
                  <a:srgbClr val="94A3B8"/>
                </a:solidFill>
                <a:latin typeface="Arial"/>
              </a:rPr>
              <a:t> Posibilidad de polución de la base de datos o creación desordenada de objetos por parte de usuarios comunes.</a:t>
            </a:r>
          </a:p>
          <a:p>
            <a:pPr>
              <a:lnSpc>
                <a:spcPct val="115000"/>
              </a:lnSpc>
              <a:spcAft>
                <a:spcPts val="500"/>
              </a:spcAft>
            </a:pPr>
            <a:r>
              <a:rPr sz="900" b="1">
                <a:solidFill>
                  <a:srgbClr val="38BDF8"/>
                </a:solidFill>
                <a:latin typeface="Arial"/>
              </a:rPr>
              <a:t>•  </a:t>
            </a:r>
            <a:r>
              <a:rPr sz="900" b="1">
                <a:solidFill>
                  <a:srgbClr val="FFFFFF"/>
                </a:solidFill>
                <a:latin typeface="Arial"/>
              </a:rPr>
              <a:t>Medida Aplicada:</a:t>
            </a:r>
            <a:r>
              <a:rPr sz="850">
                <a:solidFill>
                  <a:srgbClr val="94A3B8"/>
                </a:solidFill>
                <a:latin typeface="Arial"/>
              </a:rPr>
              <a:t> Se revoca de forma explícita el permiso de creación al rol 'PUBLIC'.</a:t>
            </a:r>
          </a:p>
          <a:p>
            <a:pPr>
              <a:lnSpc>
                <a:spcPct val="115000"/>
              </a:lnSpc>
              <a:spcAft>
                <a:spcPts val="500"/>
              </a:spcAft>
            </a:pPr>
            <a:r>
              <a:rPr sz="900" b="1">
                <a:solidFill>
                  <a:srgbClr val="38BDF8"/>
                </a:solidFill>
                <a:latin typeface="Arial"/>
              </a:rPr>
              <a:t>•  </a:t>
            </a:r>
            <a:r>
              <a:rPr sz="900" b="1">
                <a:solidFill>
                  <a:srgbClr val="FFFFFF"/>
                </a:solidFill>
                <a:latin typeface="Arial"/>
              </a:rPr>
              <a:t>Resultado Defensivo:</a:t>
            </a:r>
            <a:r>
              <a:rPr sz="850">
                <a:solidFill>
                  <a:srgbClr val="94A3B8"/>
                </a:solidFill>
                <a:latin typeface="Arial"/>
              </a:rPr>
              <a:t> Ningún usuario ordinario puede crear objetos en el esquema sin autorización expresa.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932688" y="5184648"/>
            <a:ext cx="4764024" cy="1133856"/>
          </a:xfrm>
          <a:prstGeom prst="roundRect">
            <a:avLst/>
          </a:prstGeom>
          <a:solidFill>
            <a:srgbClr val="0B162C"/>
          </a:solidFill>
          <a:ln w="1905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1024128" y="5257800"/>
            <a:ext cx="2295144" cy="182880"/>
          </a:xfrm>
          <a:prstGeom prst="roundRect">
            <a:avLst/>
          </a:prstGeom>
          <a:solidFill>
            <a:srgbClr val="142A50"/>
          </a:solidFill>
          <a:ln w="9525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" rIns="45720" tIns="0" bIns="0"/>
          <a:lstStyle/>
          <a:p>
            <a:pPr algn="ctr"/>
            <a:r>
              <a:rPr sz="700" b="1">
                <a:solidFill>
                  <a:srgbClr val="38BDF8"/>
                </a:solidFill>
                <a:latin typeface="Consolas"/>
              </a:rPr>
              <a:t>⚡ SENTENCIA SQL DE REVOCACIÓN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42416" y="5458968"/>
            <a:ext cx="4544568" cy="822960"/>
          </a:xfrm>
          <a:prstGeom prst="rect">
            <a:avLst/>
          </a:prstGeom>
          <a:noFill/>
        </p:spPr>
        <p:txBody>
          <a:bodyPr wrap="square" lIns="0" tIns="0" bIns="0" rIns="0">
            <a:spAutoFit/>
          </a:bodyPr>
          <a:lstStyle/>
          <a:p>
            <a:pPr>
              <a:spcAft>
                <a:spcPts val="200"/>
              </a:spcAft>
            </a:pPr>
            <a:r>
              <a:rPr sz="800" i="1">
                <a:solidFill>
                  <a:srgbClr val="64748B"/>
                </a:solidFill>
                <a:latin typeface="Consolas"/>
              </a:rPr>
              <a:t>-- Revocación de creación en esquema public:</a:t>
            </a:r>
          </a:p>
          <a:p>
            <a:pPr>
              <a:spcAft>
                <a:spcPts val="200"/>
              </a:spcAft>
            </a:pPr>
            <a:r>
              <a:rPr sz="850">
                <a:solidFill>
                  <a:srgbClr val="38BDF8"/>
                </a:solidFill>
                <a:latin typeface="Consolas"/>
              </a:rPr>
              <a:t>REVOKE CREATE ON SCHEMA public FROM PUBLIC;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32688" y="6135624"/>
            <a:ext cx="4764024" cy="256032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r>
              <a:rPr sz="800" b="1">
                <a:solidFill>
                  <a:srgbClr val="10B981"/>
                </a:solidFill>
                <a:latin typeface="Arial"/>
              </a:rPr>
              <a:t>● REVOCACIÓN APLICADA EXITOSAMENTE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291072" y="1572768"/>
            <a:ext cx="5166360" cy="4892040"/>
          </a:xfrm>
          <a:prstGeom prst="roundRect">
            <a:avLst/>
          </a:prstGeom>
          <a:solidFill>
            <a:srgbClr val="101524"/>
          </a:solidFill>
          <a:ln w="12700">
            <a:solidFill>
              <a:srgbClr val="232D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92240" y="1737360"/>
            <a:ext cx="4764024" cy="31546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</a:pPr>
            <a:r>
              <a:rPr sz="1200" b="1">
                <a:solidFill>
                  <a:srgbClr val="FFFFFF"/>
                </a:solidFill>
                <a:latin typeface="Arial"/>
              </a:rPr>
              <a:t>🛡️ Beneficios Obtenidos en la Práctica</a:t>
            </a:r>
          </a:p>
          <a:p>
            <a:pPr>
              <a:lnSpc>
                <a:spcPct val="115000"/>
              </a:lnSpc>
              <a:spcAft>
                <a:spcPts val="500"/>
              </a:spcAft>
            </a:pPr>
            <a:r>
              <a:rPr sz="900" b="1">
                <a:solidFill>
                  <a:srgbClr val="3B82F6"/>
                </a:solidFill>
                <a:latin typeface="Arial"/>
              </a:rPr>
              <a:t>•  </a:t>
            </a:r>
            <a:r>
              <a:rPr sz="900" b="1">
                <a:solidFill>
                  <a:srgbClr val="FFFFFF"/>
                </a:solidFill>
                <a:latin typeface="Arial"/>
              </a:rPr>
              <a:t>Control de Estructura:</a:t>
            </a:r>
            <a:r>
              <a:rPr sz="850">
                <a:solidFill>
                  <a:srgbClr val="94A3B8"/>
                </a:solidFill>
                <a:latin typeface="Arial"/>
              </a:rPr>
              <a:t> Solo el administrador puede modificar el esquema de base de datos.</a:t>
            </a:r>
          </a:p>
          <a:p>
            <a:pPr>
              <a:lnSpc>
                <a:spcPct val="115000"/>
              </a:lnSpc>
              <a:spcAft>
                <a:spcPts val="500"/>
              </a:spcAft>
            </a:pPr>
            <a:r>
              <a:rPr sz="900" b="1">
                <a:solidFill>
                  <a:srgbClr val="3B82F6"/>
                </a:solidFill>
                <a:latin typeface="Arial"/>
              </a:rPr>
              <a:t>•  </a:t>
            </a:r>
            <a:r>
              <a:rPr sz="900" b="1">
                <a:solidFill>
                  <a:srgbClr val="FFFFFF"/>
                </a:solidFill>
                <a:latin typeface="Arial"/>
              </a:rPr>
              <a:t>Prevención de Conflictos:</a:t>
            </a:r>
            <a:r>
              <a:rPr sz="850">
                <a:solidFill>
                  <a:srgbClr val="94A3B8"/>
                </a:solidFill>
                <a:latin typeface="Arial"/>
              </a:rPr>
              <a:t> Evita que scripts o usuarios de aplicación creen tablas temporales descontroladas.</a:t>
            </a:r>
          </a:p>
          <a:p>
            <a:pPr>
              <a:lnSpc>
                <a:spcPct val="115000"/>
              </a:lnSpc>
              <a:spcAft>
                <a:spcPts val="500"/>
              </a:spcAft>
            </a:pPr>
            <a:r>
              <a:rPr sz="900" b="1">
                <a:solidFill>
                  <a:srgbClr val="3B82F6"/>
                </a:solidFill>
                <a:latin typeface="Arial"/>
              </a:rPr>
              <a:t>•  </a:t>
            </a:r>
            <a:r>
              <a:rPr sz="900" b="1">
                <a:solidFill>
                  <a:srgbClr val="FFFFFF"/>
                </a:solidFill>
                <a:latin typeface="Arial"/>
              </a:rPr>
              <a:t>Facilidad de Explicación:</a:t>
            </a:r>
            <a:r>
              <a:rPr sz="850">
                <a:solidFill>
                  <a:srgbClr val="94A3B8"/>
                </a:solidFill>
                <a:latin typeface="Arial"/>
              </a:rPr>
              <a:t> Es una medida sencilla de ejecutar que demuestra de forma clara el principio de menor privilegio.</a:t>
            </a:r>
          </a:p>
          <a:p>
            <a:pPr>
              <a:lnSpc>
                <a:spcPct val="115000"/>
              </a:lnSpc>
              <a:spcAft>
                <a:spcPts val="500"/>
              </a:spcAft>
            </a:pPr>
            <a:r>
              <a:rPr sz="900" b="1">
                <a:solidFill>
                  <a:srgbClr val="3B82F6"/>
                </a:solidFill>
                <a:latin typeface="Arial"/>
              </a:rPr>
              <a:t>•  </a:t>
            </a:r>
            <a:r>
              <a:rPr sz="900" b="1">
                <a:solidFill>
                  <a:srgbClr val="FFFFFF"/>
                </a:solidFill>
                <a:latin typeface="Arial"/>
              </a:rPr>
              <a:t>Comprobación Directa:</a:t>
            </a:r>
            <a:r>
              <a:rPr sz="850">
                <a:solidFill>
                  <a:srgbClr val="94A3B8"/>
                </a:solidFill>
                <a:latin typeface="Arial"/>
              </a:rPr>
              <a:t> Puede verificarse intentando crear una tabla con un usuario sin permisos.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492240" y="5184648"/>
            <a:ext cx="4764024" cy="1133856"/>
          </a:xfrm>
          <a:prstGeom prst="roundRect">
            <a:avLst/>
          </a:prstGeom>
          <a:solidFill>
            <a:srgbClr val="0B162C"/>
          </a:solidFill>
          <a:ln w="1905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6583680" y="5257800"/>
            <a:ext cx="2660904" cy="182880"/>
          </a:xfrm>
          <a:prstGeom prst="roundRect">
            <a:avLst/>
          </a:prstGeom>
          <a:solidFill>
            <a:srgbClr val="142A50"/>
          </a:solidFill>
          <a:ln w="9525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" rIns="45720" tIns="0" bIns="0"/>
          <a:lstStyle/>
          <a:p>
            <a:pPr algn="ctr"/>
            <a:r>
              <a:rPr sz="700" b="1">
                <a:solidFill>
                  <a:srgbClr val="38BDF8"/>
                </a:solidFill>
                <a:latin typeface="Consolas"/>
              </a:rPr>
              <a:t>⚡ EFECTO INMEDIATO DEL SANEAMIENTO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601968" y="5458968"/>
            <a:ext cx="4544568" cy="822960"/>
          </a:xfrm>
          <a:prstGeom prst="rect">
            <a:avLst/>
          </a:prstGeom>
          <a:noFill/>
        </p:spPr>
        <p:txBody>
          <a:bodyPr wrap="square" lIns="0" tIns="0" bIns="0" rIns="0">
            <a:spAutoFit/>
          </a:bodyPr>
          <a:lstStyle/>
          <a:p>
            <a:pPr>
              <a:spcAft>
                <a:spcPts val="200"/>
              </a:spcAft>
            </a:pPr>
            <a:r>
              <a:rPr sz="850">
                <a:solidFill>
                  <a:srgbClr val="38BDF8"/>
                </a:solidFill>
                <a:latin typeface="Consolas"/>
              </a:rPr>
              <a:t>• Usuario app_user puede: SELECT, INSERT, UPDATE, DELETE</a:t>
            </a:r>
          </a:p>
          <a:p>
            <a:pPr>
              <a:spcAft>
                <a:spcPts val="200"/>
              </a:spcAft>
            </a:pPr>
            <a:r>
              <a:rPr sz="850">
                <a:solidFill>
                  <a:srgbClr val="38BDF8"/>
                </a:solidFill>
                <a:latin typeface="Consolas"/>
              </a:rPr>
              <a:t>• Usuario app_user NO puede: CREATE TABLE</a:t>
            </a:r>
          </a:p>
          <a:p>
            <a:pPr>
              <a:spcAft>
                <a:spcPts val="200"/>
              </a:spcAft>
            </a:pPr>
            <a:r>
              <a:rPr sz="850">
                <a:solidFill>
                  <a:srgbClr val="38BDF8"/>
                </a:solidFill>
                <a:latin typeface="Consolas"/>
              </a:rPr>
              <a:t>• Esquema protegido contra alteraciones no autorizadas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92240" y="6135624"/>
            <a:ext cx="4764024" cy="256032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r>
              <a:rPr sz="800" b="1">
                <a:solidFill>
                  <a:srgbClr val="38BDF8"/>
                </a:solidFill>
                <a:latin typeface="Arial"/>
              </a:rPr>
              <a:t>● ESQUEMA PUBLIC ENDURECIDO</a:t>
            </a:r>
          </a:p>
        </p:txBody>
      </p:sp>
    </p:spTree>
  </p:cSld>
  <p:transition spd="med">
    <p:split dir="out"/>
  </p:transition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90C1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347472"/>
            <a:ext cx="3936491" cy="274320"/>
          </a:xfrm>
          <a:prstGeom prst="roundRect">
            <a:avLst/>
          </a:prstGeom>
          <a:solidFill>
            <a:srgbClr val="121C34"/>
          </a:solidFill>
          <a:ln w="12700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18288" bIns="18288"/>
          <a:lstStyle/>
          <a:p>
            <a:pPr algn="ctr"/>
            <a:r>
              <a:rPr sz="850" b="1">
                <a:solidFill>
                  <a:srgbClr val="38BDF8"/>
                </a:solidFill>
                <a:latin typeface="Arial"/>
              </a:rPr>
              <a:t>●  SECCIÓN 4.5 Y 4.6 // MEDIDAS DE HARDENING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601200" y="347472"/>
            <a:ext cx="1828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50" b="1">
                <a:solidFill>
                  <a:srgbClr val="64748B"/>
                </a:solidFill>
                <a:latin typeface="Consolas"/>
              </a:rPr>
              <a:t>SLIDE 11 / 14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676656"/>
            <a:ext cx="10698480" cy="438912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r>
              <a:rPr sz="2000" b="1">
                <a:solidFill>
                  <a:srgbClr val="FFFFFF"/>
                </a:solidFill>
                <a:latin typeface="Arial"/>
              </a:rPr>
              <a:t>Medidas 5 y 6: Proteger Archivos de Datos y Habilitar TLS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133856"/>
            <a:ext cx="10698480" cy="292608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r>
              <a:rPr sz="1050">
                <a:solidFill>
                  <a:srgbClr val="94A3B8"/>
                </a:solidFill>
                <a:latin typeface="Arial"/>
              </a:rPr>
              <a:t>Permisos del sistema de archivos chmod 0700 y cifrado de conexiones con certificados X.509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572768"/>
            <a:ext cx="5166360" cy="4892040"/>
          </a:xfrm>
          <a:prstGeom prst="roundRect">
            <a:avLst/>
          </a:prstGeom>
          <a:solidFill>
            <a:srgbClr val="141C30"/>
          </a:solidFill>
          <a:ln w="19050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32688" y="1737360"/>
            <a:ext cx="4764024" cy="31546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</a:pPr>
            <a:r>
              <a:rPr sz="1200" b="1">
                <a:solidFill>
                  <a:srgbClr val="38BDF8"/>
                </a:solidFill>
                <a:latin typeface="Arial"/>
              </a:rPr>
              <a:t>📁 Medida 5: Proteger Archivos de Datos</a:t>
            </a:r>
          </a:p>
          <a:p>
            <a:pPr>
              <a:lnSpc>
                <a:spcPct val="115000"/>
              </a:lnSpc>
              <a:spcAft>
                <a:spcPts val="500"/>
              </a:spcAft>
            </a:pPr>
            <a:r>
              <a:rPr sz="900" b="1">
                <a:solidFill>
                  <a:srgbClr val="38BDF8"/>
                </a:solidFill>
                <a:latin typeface="Arial"/>
              </a:rPr>
              <a:t>•  </a:t>
            </a:r>
            <a:r>
              <a:rPr sz="900" b="1">
                <a:solidFill>
                  <a:srgbClr val="FFFFFF"/>
                </a:solidFill>
                <a:latin typeface="Arial"/>
              </a:rPr>
              <a:t>Importancia:</a:t>
            </a:r>
            <a:r>
              <a:rPr sz="850">
                <a:solidFill>
                  <a:srgbClr val="94A3B8"/>
                </a:solidFill>
                <a:latin typeface="Arial"/>
              </a:rPr>
              <a:t> Los archivos físicos contienen la información real de las bases de datos.</a:t>
            </a:r>
          </a:p>
          <a:p>
            <a:pPr>
              <a:lnSpc>
                <a:spcPct val="115000"/>
              </a:lnSpc>
              <a:spcAft>
                <a:spcPts val="500"/>
              </a:spcAft>
            </a:pPr>
            <a:r>
              <a:rPr sz="900" b="1">
                <a:solidFill>
                  <a:srgbClr val="38BDF8"/>
                </a:solidFill>
                <a:latin typeface="Arial"/>
              </a:rPr>
              <a:t>•  </a:t>
            </a:r>
            <a:r>
              <a:rPr sz="900" b="1">
                <a:solidFill>
                  <a:srgbClr val="FFFFFF"/>
                </a:solidFill>
                <a:latin typeface="Arial"/>
              </a:rPr>
              <a:t>Propiedad Exclusiva:</a:t>
            </a:r>
            <a:r>
              <a:rPr sz="850">
                <a:solidFill>
                  <a:srgbClr val="94A3B8"/>
                </a:solidFill>
                <a:latin typeface="Arial"/>
              </a:rPr>
              <a:t> Se verifica que el directorio pertenezca únicamente al usuario 'postgres'.</a:t>
            </a:r>
          </a:p>
          <a:p>
            <a:pPr>
              <a:lnSpc>
                <a:spcPct val="115000"/>
              </a:lnSpc>
              <a:spcAft>
                <a:spcPts val="500"/>
              </a:spcAft>
            </a:pPr>
            <a:r>
              <a:rPr sz="900" b="1">
                <a:solidFill>
                  <a:srgbClr val="38BDF8"/>
                </a:solidFill>
                <a:latin typeface="Arial"/>
              </a:rPr>
              <a:t>•  </a:t>
            </a:r>
            <a:r>
              <a:rPr sz="900" b="1">
                <a:solidFill>
                  <a:srgbClr val="FFFFFF"/>
                </a:solidFill>
                <a:latin typeface="Arial"/>
              </a:rPr>
              <a:t>Permisos 0700:</a:t>
            </a:r>
            <a:r>
              <a:rPr sz="850">
                <a:solidFill>
                  <a:srgbClr val="94A3B8"/>
                </a:solidFill>
                <a:latin typeface="Arial"/>
              </a:rPr>
              <a:t> Asegura que otros usuarios locales del sistema operativo no puedan leer ni listar los datos.</a:t>
            </a:r>
          </a:p>
          <a:p>
            <a:pPr>
              <a:lnSpc>
                <a:spcPct val="115000"/>
              </a:lnSpc>
              <a:spcAft>
                <a:spcPts val="500"/>
              </a:spcAft>
            </a:pPr>
            <a:r>
              <a:rPr sz="900" b="1">
                <a:solidFill>
                  <a:srgbClr val="38BDF8"/>
                </a:solidFill>
                <a:latin typeface="Arial"/>
              </a:rPr>
              <a:t>•  </a:t>
            </a:r>
            <a:r>
              <a:rPr sz="900" b="1">
                <a:solidFill>
                  <a:srgbClr val="FFFFFF"/>
                </a:solidFill>
                <a:latin typeface="Arial"/>
              </a:rPr>
              <a:t>Comando chown y chmod:</a:t>
            </a:r>
            <a:r>
              <a:rPr sz="850">
                <a:solidFill>
                  <a:srgbClr val="94A3B8"/>
                </a:solidFill>
                <a:latin typeface="Arial"/>
              </a:rPr>
              <a:t> Aplicación inmediata sobre `/var/lib/postgresql/16/main`.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932688" y="5184648"/>
            <a:ext cx="4764024" cy="1133856"/>
          </a:xfrm>
          <a:prstGeom prst="roundRect">
            <a:avLst/>
          </a:prstGeom>
          <a:solidFill>
            <a:srgbClr val="0B162C"/>
          </a:solidFill>
          <a:ln w="1905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1024128" y="5257800"/>
            <a:ext cx="3026664" cy="182880"/>
          </a:xfrm>
          <a:prstGeom prst="roundRect">
            <a:avLst/>
          </a:prstGeom>
          <a:solidFill>
            <a:srgbClr val="142A50"/>
          </a:solidFill>
          <a:ln w="9525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" rIns="45720" tIns="0" bIns="0"/>
          <a:lstStyle/>
          <a:p>
            <a:pPr algn="ctr"/>
            <a:r>
              <a:rPr sz="700" b="1">
                <a:solidFill>
                  <a:srgbClr val="38BDF8"/>
                </a:solidFill>
                <a:latin typeface="Consolas"/>
              </a:rPr>
              <a:t>⚡ COMANDOS SOBRE EL DIRECTORIO DE DATOS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42416" y="5458968"/>
            <a:ext cx="4544568" cy="822960"/>
          </a:xfrm>
          <a:prstGeom prst="rect">
            <a:avLst/>
          </a:prstGeom>
          <a:noFill/>
        </p:spPr>
        <p:txBody>
          <a:bodyPr wrap="square" lIns="0" tIns="0" bIns="0" rIns="0">
            <a:spAutoFit/>
          </a:bodyPr>
          <a:lstStyle/>
          <a:p>
            <a:pPr>
              <a:spcAft>
                <a:spcPts val="200"/>
              </a:spcAft>
            </a:pPr>
            <a:r>
              <a:rPr sz="850" b="1">
                <a:solidFill>
                  <a:srgbClr val="34D399"/>
                </a:solidFill>
                <a:latin typeface="Consolas"/>
              </a:rPr>
              <a:t>$ </a:t>
            </a:r>
            <a:r>
              <a:rPr sz="850" b="1">
                <a:solidFill>
                  <a:srgbClr val="FFFFFF"/>
                </a:solidFill>
                <a:latin typeface="Consolas"/>
              </a:rPr>
              <a:t>sudo chown -R postgres:postgres /var/lib/postgresql/16/main</a:t>
            </a:r>
          </a:p>
          <a:p>
            <a:pPr>
              <a:spcAft>
                <a:spcPts val="200"/>
              </a:spcAft>
            </a:pPr>
            <a:r>
              <a:rPr sz="850" b="1">
                <a:solidFill>
                  <a:srgbClr val="34D399"/>
                </a:solidFill>
                <a:latin typeface="Consolas"/>
              </a:rPr>
              <a:t>$ </a:t>
            </a:r>
            <a:r>
              <a:rPr sz="850" b="1">
                <a:solidFill>
                  <a:srgbClr val="FFFFFF"/>
                </a:solidFill>
                <a:latin typeface="Consolas"/>
              </a:rPr>
              <a:t>sudo chmod 0700 /var/lib/postgresql/16/main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32688" y="6135624"/>
            <a:ext cx="4764024" cy="256032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r>
              <a:rPr sz="800" b="1">
                <a:solidFill>
                  <a:srgbClr val="10B981"/>
                </a:solidFill>
                <a:latin typeface="Arial"/>
              </a:rPr>
              <a:t>● PERMISOS 0700 Y PROPIEDAD POSTGRES VERIFICADOS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291072" y="1572768"/>
            <a:ext cx="5166360" cy="4892040"/>
          </a:xfrm>
          <a:prstGeom prst="roundRect">
            <a:avLst/>
          </a:prstGeom>
          <a:solidFill>
            <a:srgbClr val="101524"/>
          </a:solidFill>
          <a:ln w="12700">
            <a:solidFill>
              <a:srgbClr val="232D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92240" y="1737360"/>
            <a:ext cx="4764024" cy="31546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</a:pPr>
            <a:r>
              <a:rPr sz="1200" b="1">
                <a:solidFill>
                  <a:srgbClr val="FFFFFF"/>
                </a:solidFill>
                <a:latin typeface="Arial"/>
              </a:rPr>
              <a:t>🔐 Medida 6: Habilitar Conexiones Cifradas con TLS</a:t>
            </a:r>
          </a:p>
          <a:p>
            <a:pPr>
              <a:lnSpc>
                <a:spcPct val="115000"/>
              </a:lnSpc>
              <a:spcAft>
                <a:spcPts val="500"/>
              </a:spcAft>
            </a:pPr>
            <a:r>
              <a:rPr sz="900" b="1">
                <a:solidFill>
                  <a:srgbClr val="3B82F6"/>
                </a:solidFill>
                <a:latin typeface="Arial"/>
              </a:rPr>
              <a:t>•  </a:t>
            </a:r>
            <a:r>
              <a:rPr sz="900" b="1">
                <a:solidFill>
                  <a:srgbClr val="FFFFFF"/>
                </a:solidFill>
                <a:latin typeface="Arial"/>
              </a:rPr>
              <a:t>Necesidad del Cifrado:</a:t>
            </a:r>
            <a:r>
              <a:rPr sz="850">
                <a:solidFill>
                  <a:srgbClr val="94A3B8"/>
                </a:solidFill>
                <a:latin typeface="Arial"/>
              </a:rPr>
              <a:t> Evitar que los datos y credenciales viajen de forma legible por la red.</a:t>
            </a:r>
          </a:p>
          <a:p>
            <a:pPr>
              <a:lnSpc>
                <a:spcPct val="115000"/>
              </a:lnSpc>
              <a:spcAft>
                <a:spcPts val="500"/>
              </a:spcAft>
            </a:pPr>
            <a:r>
              <a:rPr sz="900" b="1">
                <a:solidFill>
                  <a:srgbClr val="3B82F6"/>
                </a:solidFill>
                <a:latin typeface="Arial"/>
              </a:rPr>
              <a:t>•  </a:t>
            </a:r>
            <a:r>
              <a:rPr sz="900" b="1">
                <a:solidFill>
                  <a:srgbClr val="FFFFFF"/>
                </a:solidFill>
                <a:latin typeface="Arial"/>
              </a:rPr>
              <a:t>Certificado de Laboratorio:</a:t>
            </a:r>
            <a:r>
              <a:rPr sz="850">
                <a:solidFill>
                  <a:srgbClr val="94A3B8"/>
                </a:solidFill>
                <a:latin typeface="Arial"/>
              </a:rPr>
              <a:t> Generación con openssl autofirmado (RSA 2048 bits) para la práctica.</a:t>
            </a:r>
          </a:p>
          <a:p>
            <a:pPr>
              <a:lnSpc>
                <a:spcPct val="115000"/>
              </a:lnSpc>
              <a:spcAft>
                <a:spcPts val="500"/>
              </a:spcAft>
            </a:pPr>
            <a:r>
              <a:rPr sz="900" b="1">
                <a:solidFill>
                  <a:srgbClr val="3B82F6"/>
                </a:solidFill>
                <a:latin typeface="Arial"/>
              </a:rPr>
              <a:t>•  </a:t>
            </a:r>
            <a:r>
              <a:rPr sz="900" b="1">
                <a:solidFill>
                  <a:srgbClr val="FFFFFF"/>
                </a:solidFill>
                <a:latin typeface="Arial"/>
              </a:rPr>
              <a:t>Permisos de Clave Privada:</a:t>
            </a:r>
            <a:r>
              <a:rPr sz="850">
                <a:solidFill>
                  <a:srgbClr val="94A3B8"/>
                </a:solidFill>
                <a:latin typeface="Arial"/>
              </a:rPr>
              <a:t> Archivo `server.key` restringido a chmod 0600.</a:t>
            </a:r>
          </a:p>
          <a:p>
            <a:pPr>
              <a:lnSpc>
                <a:spcPct val="115000"/>
              </a:lnSpc>
              <a:spcAft>
                <a:spcPts val="500"/>
              </a:spcAft>
            </a:pPr>
            <a:r>
              <a:rPr sz="900" b="1">
                <a:solidFill>
                  <a:srgbClr val="3B82F6"/>
                </a:solidFill>
                <a:latin typeface="Arial"/>
              </a:rPr>
              <a:t>•  </a:t>
            </a:r>
            <a:r>
              <a:rPr sz="900" b="1">
                <a:solidFill>
                  <a:srgbClr val="FFFFFF"/>
                </a:solidFill>
                <a:latin typeface="Arial"/>
              </a:rPr>
              <a:t>Configuración en postgresql.conf:</a:t>
            </a:r>
            <a:r>
              <a:rPr sz="850">
                <a:solidFill>
                  <a:srgbClr val="94A3B8"/>
                </a:solidFill>
                <a:latin typeface="Arial"/>
              </a:rPr>
              <a:t> Parámetros `ssl = on`, `ssl_cert_file` y `ssl_key_file`.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492240" y="5184648"/>
            <a:ext cx="4764024" cy="1133856"/>
          </a:xfrm>
          <a:prstGeom prst="roundRect">
            <a:avLst/>
          </a:prstGeom>
          <a:solidFill>
            <a:srgbClr val="0B162C"/>
          </a:solidFill>
          <a:ln w="1905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6583680" y="5257800"/>
            <a:ext cx="3108960" cy="182880"/>
          </a:xfrm>
          <a:prstGeom prst="roundRect">
            <a:avLst/>
          </a:prstGeom>
          <a:solidFill>
            <a:srgbClr val="142A50"/>
          </a:solidFill>
          <a:ln w="9525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" rIns="45720" tIns="0" bIns="0"/>
          <a:lstStyle/>
          <a:p>
            <a:pPr algn="ctr"/>
            <a:r>
              <a:rPr sz="700" b="1">
                <a:solidFill>
                  <a:srgbClr val="38BDF8"/>
                </a:solidFill>
                <a:latin typeface="Consolas"/>
              </a:rPr>
              <a:t>⚡ GENERACIÓN DE CERTIFICADO Y CONFIGURACIÓN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601968" y="5458968"/>
            <a:ext cx="4544568" cy="822960"/>
          </a:xfrm>
          <a:prstGeom prst="rect">
            <a:avLst/>
          </a:prstGeom>
          <a:noFill/>
        </p:spPr>
        <p:txBody>
          <a:bodyPr wrap="square" lIns="0" tIns="0" bIns="0" rIns="0">
            <a:spAutoFit/>
          </a:bodyPr>
          <a:lstStyle/>
          <a:p>
            <a:pPr>
              <a:spcAft>
                <a:spcPts val="200"/>
              </a:spcAft>
            </a:pPr>
            <a:r>
              <a:rPr sz="850" b="1">
                <a:solidFill>
                  <a:srgbClr val="34D399"/>
                </a:solidFill>
                <a:latin typeface="Consolas"/>
              </a:rPr>
              <a:t>$ </a:t>
            </a:r>
            <a:r>
              <a:rPr sz="850" b="1">
                <a:solidFill>
                  <a:srgbClr val="FFFFFF"/>
                </a:solidFill>
                <a:latin typeface="Consolas"/>
              </a:rPr>
              <a:t>sudo openssl req -new -x509 -nodes -days 365 -newkey rsa:2048 \</a:t>
            </a:r>
          </a:p>
          <a:p>
            <a:pPr>
              <a:spcAft>
                <a:spcPts val="200"/>
              </a:spcAft>
            </a:pPr>
            <a:r>
              <a:rPr sz="850">
                <a:solidFill>
                  <a:srgbClr val="38BDF8"/>
                </a:solidFill>
                <a:latin typeface="Consolas"/>
              </a:rPr>
              <a:t>  -keyout /etc/postgresql/16/main/server.key \</a:t>
            </a:r>
          </a:p>
          <a:p>
            <a:pPr>
              <a:spcAft>
                <a:spcPts val="200"/>
              </a:spcAft>
            </a:pPr>
            <a:r>
              <a:rPr sz="850">
                <a:solidFill>
                  <a:srgbClr val="38BDF8"/>
                </a:solidFill>
                <a:latin typeface="Consolas"/>
              </a:rPr>
              <a:t>  -out /etc/postgresql/16/main/server.crt</a:t>
            </a:r>
          </a:p>
          <a:p>
            <a:pPr>
              <a:spcAft>
                <a:spcPts val="200"/>
              </a:spcAft>
            </a:pPr>
            <a:r>
              <a:rPr sz="850" b="1">
                <a:solidFill>
                  <a:srgbClr val="34D399"/>
                </a:solidFill>
                <a:latin typeface="Consolas"/>
              </a:rPr>
              <a:t>$ </a:t>
            </a:r>
            <a:r>
              <a:rPr sz="850" b="1">
                <a:solidFill>
                  <a:srgbClr val="FFFFFF"/>
                </a:solidFill>
                <a:latin typeface="Consolas"/>
              </a:rPr>
              <a:t>sudo chown postgres:postgres /etc/postgresql/16/main/server.*</a:t>
            </a:r>
          </a:p>
          <a:p>
            <a:pPr>
              <a:spcAft>
                <a:spcPts val="200"/>
              </a:spcAft>
            </a:pPr>
            <a:r>
              <a:rPr sz="850" b="1">
                <a:solidFill>
                  <a:srgbClr val="34D399"/>
                </a:solidFill>
                <a:latin typeface="Consolas"/>
              </a:rPr>
              <a:t>$ </a:t>
            </a:r>
            <a:r>
              <a:rPr sz="850" b="1">
                <a:solidFill>
                  <a:srgbClr val="FFFFFF"/>
                </a:solidFill>
                <a:latin typeface="Consolas"/>
              </a:rPr>
              <a:t>sudo chmod 0600 /etc/postgresql/16/main/server.key</a:t>
            </a:r>
          </a:p>
          <a:p>
            <a:pPr>
              <a:spcAft>
                <a:spcPts val="200"/>
              </a:spcAft>
            </a:pPr>
            <a:r>
              <a:rPr sz="800" i="1">
                <a:solidFill>
                  <a:srgbClr val="64748B"/>
                </a:solidFill>
                <a:latin typeface="Consolas"/>
              </a:rPr>
              <a:t># En postgresql.conf: ssl = on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92240" y="6135624"/>
            <a:ext cx="4764024" cy="256032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r>
              <a:rPr sz="800" b="1">
                <a:solidFill>
                  <a:srgbClr val="38BDF8"/>
                </a:solidFill>
                <a:latin typeface="Arial"/>
              </a:rPr>
              <a:t>● CIFRADO TLS HABILITADO EN EL SERVICIO</a:t>
            </a:r>
          </a:p>
        </p:txBody>
      </p:sp>
    </p:spTree>
  </p:cSld>
  <p:transition spd="med">
    <p:push dir="l"/>
  </p:transition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90C1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347472"/>
            <a:ext cx="3936491" cy="274320"/>
          </a:xfrm>
          <a:prstGeom prst="roundRect">
            <a:avLst/>
          </a:prstGeom>
          <a:solidFill>
            <a:srgbClr val="121C34"/>
          </a:solidFill>
          <a:ln w="12700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18288" bIns="18288"/>
          <a:lstStyle/>
          <a:p>
            <a:pPr algn="ctr"/>
            <a:r>
              <a:rPr sz="850" b="1">
                <a:solidFill>
                  <a:srgbClr val="38BDF8"/>
                </a:solidFill>
                <a:latin typeface="Arial"/>
              </a:rPr>
              <a:t>●  SECCIÓN 4.7 Y 4.8 // MEDIDAS DE HARDENING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601200" y="347472"/>
            <a:ext cx="1828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50" b="1">
                <a:solidFill>
                  <a:srgbClr val="64748B"/>
                </a:solidFill>
                <a:latin typeface="Consolas"/>
              </a:rPr>
              <a:t>SLIDE 12 / 14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676656"/>
            <a:ext cx="10698480" cy="438912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r>
              <a:rPr sz="2000" b="1">
                <a:solidFill>
                  <a:srgbClr val="FFFFFF"/>
                </a:solidFill>
                <a:latin typeface="Arial"/>
              </a:rPr>
              <a:t>Medidas 7 y 8: Registros Básicos de Actividad y Copia de Seguridad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133856"/>
            <a:ext cx="10698480" cy="292608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r>
              <a:rPr sz="1050">
                <a:solidFill>
                  <a:srgbClr val="94A3B8"/>
                </a:solidFill>
                <a:latin typeface="Arial"/>
              </a:rPr>
              <a:t>Seguimiento de conexiones y desconexiones, y respaldo lógico de base de datos con pg_dump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572768"/>
            <a:ext cx="5166360" cy="4892040"/>
          </a:xfrm>
          <a:prstGeom prst="roundRect">
            <a:avLst/>
          </a:prstGeom>
          <a:solidFill>
            <a:srgbClr val="141C30"/>
          </a:solidFill>
          <a:ln w="19050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32688" y="1737360"/>
            <a:ext cx="4764024" cy="31546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</a:pPr>
            <a:r>
              <a:rPr sz="1200" b="1">
                <a:solidFill>
                  <a:srgbClr val="38BDF8"/>
                </a:solidFill>
                <a:latin typeface="Arial"/>
              </a:rPr>
              <a:t>📝 Medida 7: Activar Registros Básicos de Actividad</a:t>
            </a:r>
          </a:p>
          <a:p>
            <a:pPr>
              <a:lnSpc>
                <a:spcPct val="115000"/>
              </a:lnSpc>
              <a:spcAft>
                <a:spcPts val="500"/>
              </a:spcAft>
            </a:pPr>
            <a:r>
              <a:rPr sz="900" b="1">
                <a:solidFill>
                  <a:srgbClr val="38BDF8"/>
                </a:solidFill>
                <a:latin typeface="Arial"/>
              </a:rPr>
              <a:t>•  </a:t>
            </a:r>
            <a:r>
              <a:rPr sz="900" b="1">
                <a:solidFill>
                  <a:srgbClr val="FFFFFF"/>
                </a:solidFill>
                <a:latin typeface="Arial"/>
              </a:rPr>
              <a:t>Utilidad de los Logs:</a:t>
            </a:r>
            <a:r>
              <a:rPr sz="850">
                <a:solidFill>
                  <a:srgbClr val="94A3B8"/>
                </a:solidFill>
                <a:latin typeface="Arial"/>
              </a:rPr>
              <a:t> Permiten revisar quién se conecta, cuándo y desde dónde.</a:t>
            </a:r>
          </a:p>
          <a:p>
            <a:pPr>
              <a:lnSpc>
                <a:spcPct val="115000"/>
              </a:lnSpc>
              <a:spcAft>
                <a:spcPts val="500"/>
              </a:spcAft>
            </a:pPr>
            <a:r>
              <a:rPr sz="900" b="1">
                <a:solidFill>
                  <a:srgbClr val="38BDF8"/>
                </a:solidFill>
                <a:latin typeface="Arial"/>
              </a:rPr>
              <a:t>•  </a:t>
            </a:r>
            <a:r>
              <a:rPr sz="900" b="1">
                <a:solidFill>
                  <a:srgbClr val="FFFFFF"/>
                </a:solidFill>
                <a:latin typeface="Arial"/>
              </a:rPr>
              <a:t>Enfoque de Laboratorio:</a:t>
            </a:r>
            <a:r>
              <a:rPr sz="850">
                <a:solidFill>
                  <a:srgbClr val="94A3B8"/>
                </a:solidFill>
                <a:latin typeface="Arial"/>
              </a:rPr>
              <a:t> Es suficiente habilitar el registro básico nativo sin instalar componentes externos.</a:t>
            </a:r>
          </a:p>
          <a:p>
            <a:pPr>
              <a:lnSpc>
                <a:spcPct val="115000"/>
              </a:lnSpc>
              <a:spcAft>
                <a:spcPts val="500"/>
              </a:spcAft>
            </a:pPr>
            <a:r>
              <a:rPr sz="900" b="1">
                <a:solidFill>
                  <a:srgbClr val="38BDF8"/>
                </a:solidFill>
                <a:latin typeface="Arial"/>
              </a:rPr>
              <a:t>•  </a:t>
            </a:r>
            <a:r>
              <a:rPr sz="900" b="1">
                <a:solidFill>
                  <a:srgbClr val="FFFFFF"/>
                </a:solidFill>
                <a:latin typeface="Arial"/>
              </a:rPr>
              <a:t>logging_collector = on:</a:t>
            </a:r>
            <a:r>
              <a:rPr sz="850">
                <a:solidFill>
                  <a:srgbClr val="94A3B8"/>
                </a:solidFill>
                <a:latin typeface="Arial"/>
              </a:rPr>
              <a:t> Habilita el recopilador de registros del motor.</a:t>
            </a:r>
          </a:p>
          <a:p>
            <a:pPr>
              <a:lnSpc>
                <a:spcPct val="115000"/>
              </a:lnSpc>
              <a:spcAft>
                <a:spcPts val="500"/>
              </a:spcAft>
            </a:pPr>
            <a:r>
              <a:rPr sz="900" b="1">
                <a:solidFill>
                  <a:srgbClr val="38BDF8"/>
                </a:solidFill>
                <a:latin typeface="Arial"/>
              </a:rPr>
              <a:t>•  </a:t>
            </a:r>
            <a:r>
              <a:rPr sz="900" b="1">
                <a:solidFill>
                  <a:srgbClr val="FFFFFF"/>
                </a:solidFill>
                <a:latin typeface="Arial"/>
              </a:rPr>
              <a:t>log_connections y log_disconnections = on:</a:t>
            </a:r>
            <a:r>
              <a:rPr sz="850">
                <a:solidFill>
                  <a:srgbClr val="94A3B8"/>
                </a:solidFill>
                <a:latin typeface="Arial"/>
              </a:rPr>
              <a:t> Registra inicio y cierre de sesiones.</a:t>
            </a:r>
          </a:p>
          <a:p>
            <a:pPr>
              <a:lnSpc>
                <a:spcPct val="115000"/>
              </a:lnSpc>
              <a:spcAft>
                <a:spcPts val="500"/>
              </a:spcAft>
            </a:pPr>
            <a:r>
              <a:rPr sz="900" b="1">
                <a:solidFill>
                  <a:srgbClr val="38BDF8"/>
                </a:solidFill>
                <a:latin typeface="Arial"/>
              </a:rPr>
              <a:t>•  </a:t>
            </a:r>
            <a:r>
              <a:rPr sz="900" b="1">
                <a:solidFill>
                  <a:srgbClr val="FFFFFF"/>
                </a:solidFill>
                <a:latin typeface="Arial"/>
              </a:rPr>
              <a:t>log_line_prefix:</a:t>
            </a:r>
            <a:r>
              <a:rPr sz="850">
                <a:solidFill>
                  <a:srgbClr val="94A3B8"/>
                </a:solidFill>
                <a:latin typeface="Arial"/>
              </a:rPr>
              <a:t> Define timestamp, PID, usuario y base de datos (`%m [%p] %u@%d `).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932688" y="5184648"/>
            <a:ext cx="4764024" cy="1133856"/>
          </a:xfrm>
          <a:prstGeom prst="roundRect">
            <a:avLst/>
          </a:prstGeom>
          <a:solidFill>
            <a:srgbClr val="0B162C"/>
          </a:solidFill>
          <a:ln w="1905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1024128" y="5257800"/>
            <a:ext cx="2441448" cy="182880"/>
          </a:xfrm>
          <a:prstGeom prst="roundRect">
            <a:avLst/>
          </a:prstGeom>
          <a:solidFill>
            <a:srgbClr val="142A50"/>
          </a:solidFill>
          <a:ln w="9525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" rIns="45720" tIns="0" bIns="0"/>
          <a:lstStyle/>
          <a:p>
            <a:pPr algn="ctr"/>
            <a:r>
              <a:rPr sz="700" b="1">
                <a:solidFill>
                  <a:srgbClr val="38BDF8"/>
                </a:solidFill>
                <a:latin typeface="Consolas"/>
              </a:rPr>
              <a:t>⚡ PARÁMETROS EN POSTGRESQL.CONF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42416" y="5458968"/>
            <a:ext cx="4544568" cy="822960"/>
          </a:xfrm>
          <a:prstGeom prst="rect">
            <a:avLst/>
          </a:prstGeom>
          <a:noFill/>
        </p:spPr>
        <p:txBody>
          <a:bodyPr wrap="square" lIns="0" tIns="0" bIns="0" rIns="0">
            <a:spAutoFit/>
          </a:bodyPr>
          <a:lstStyle/>
          <a:p>
            <a:pPr>
              <a:spcAft>
                <a:spcPts val="200"/>
              </a:spcAft>
            </a:pPr>
            <a:r>
              <a:rPr sz="800" i="1">
                <a:solidFill>
                  <a:srgbClr val="64748B"/>
                </a:solidFill>
                <a:latin typeface="Consolas"/>
              </a:rPr>
              <a:t># En postgresql.conf</a:t>
            </a:r>
          </a:p>
          <a:p>
            <a:pPr>
              <a:spcAft>
                <a:spcPts val="200"/>
              </a:spcAft>
            </a:pPr>
            <a:r>
              <a:rPr sz="850" b="1">
                <a:solidFill>
                  <a:srgbClr val="38BDF8"/>
                </a:solidFill>
                <a:latin typeface="Consolas"/>
              </a:rPr>
              <a:t>logging_collector =</a:t>
            </a:r>
            <a:r>
              <a:rPr sz="850">
                <a:solidFill>
                  <a:srgbClr val="D8B4FE"/>
                </a:solidFill>
                <a:latin typeface="Consolas"/>
              </a:rPr>
              <a:t> on</a:t>
            </a:r>
          </a:p>
          <a:p>
            <a:pPr>
              <a:spcAft>
                <a:spcPts val="200"/>
              </a:spcAft>
            </a:pPr>
            <a:r>
              <a:rPr sz="850" b="1">
                <a:solidFill>
                  <a:srgbClr val="38BDF8"/>
                </a:solidFill>
                <a:latin typeface="Consolas"/>
              </a:rPr>
              <a:t>log_connections =</a:t>
            </a:r>
            <a:r>
              <a:rPr sz="850">
                <a:solidFill>
                  <a:srgbClr val="D8B4FE"/>
                </a:solidFill>
                <a:latin typeface="Consolas"/>
              </a:rPr>
              <a:t> on</a:t>
            </a:r>
          </a:p>
          <a:p>
            <a:pPr>
              <a:spcAft>
                <a:spcPts val="200"/>
              </a:spcAft>
            </a:pPr>
            <a:r>
              <a:rPr sz="850" b="1">
                <a:solidFill>
                  <a:srgbClr val="38BDF8"/>
                </a:solidFill>
                <a:latin typeface="Consolas"/>
              </a:rPr>
              <a:t>log_disconnections =</a:t>
            </a:r>
            <a:r>
              <a:rPr sz="850">
                <a:solidFill>
                  <a:srgbClr val="D8B4FE"/>
                </a:solidFill>
                <a:latin typeface="Consolas"/>
              </a:rPr>
              <a:t> on</a:t>
            </a:r>
          </a:p>
          <a:p>
            <a:pPr>
              <a:spcAft>
                <a:spcPts val="200"/>
              </a:spcAft>
            </a:pPr>
            <a:r>
              <a:rPr sz="850" b="1">
                <a:solidFill>
                  <a:srgbClr val="38BDF8"/>
                </a:solidFill>
                <a:latin typeface="Consolas"/>
              </a:rPr>
              <a:t>log_line_prefix =</a:t>
            </a:r>
            <a:r>
              <a:rPr sz="850">
                <a:solidFill>
                  <a:srgbClr val="D8B4FE"/>
                </a:solidFill>
                <a:latin typeface="Consolas"/>
              </a:rPr>
              <a:t> '%m [%p] %u@%d '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32688" y="6135624"/>
            <a:ext cx="4764024" cy="256032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r>
              <a:rPr sz="800" b="1">
                <a:solidFill>
                  <a:srgbClr val="10B981"/>
                </a:solidFill>
                <a:latin typeface="Arial"/>
              </a:rPr>
              <a:t>● REGISTROS NATIVOS HABILITADOS EN PG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291072" y="1572768"/>
            <a:ext cx="5166360" cy="4892040"/>
          </a:xfrm>
          <a:prstGeom prst="roundRect">
            <a:avLst/>
          </a:prstGeom>
          <a:solidFill>
            <a:srgbClr val="101524"/>
          </a:solidFill>
          <a:ln w="12700">
            <a:solidFill>
              <a:srgbClr val="232D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92240" y="1737360"/>
            <a:ext cx="4764024" cy="31546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</a:pPr>
            <a:r>
              <a:rPr sz="1200" b="1">
                <a:solidFill>
                  <a:srgbClr val="FFFFFF"/>
                </a:solidFill>
                <a:latin typeface="Arial"/>
              </a:rPr>
              <a:t>💾 Medida 8: Realizar una Copia de Seguridad</a:t>
            </a:r>
          </a:p>
          <a:p>
            <a:pPr>
              <a:lnSpc>
                <a:spcPct val="115000"/>
              </a:lnSpc>
              <a:spcAft>
                <a:spcPts val="500"/>
              </a:spcAft>
            </a:pPr>
            <a:r>
              <a:rPr sz="900" b="1">
                <a:solidFill>
                  <a:srgbClr val="3B82F6"/>
                </a:solidFill>
                <a:latin typeface="Arial"/>
              </a:rPr>
              <a:t>•  </a:t>
            </a:r>
            <a:r>
              <a:rPr sz="900" b="1">
                <a:solidFill>
                  <a:srgbClr val="FFFFFF"/>
                </a:solidFill>
                <a:latin typeface="Arial"/>
              </a:rPr>
              <a:t>Importancia:</a:t>
            </a:r>
            <a:r>
              <a:rPr sz="850">
                <a:solidFill>
                  <a:srgbClr val="94A3B8"/>
                </a:solidFill>
                <a:latin typeface="Arial"/>
              </a:rPr>
              <a:t> El hardening no previene todos los incidentes; el respaldo es imprescindible.</a:t>
            </a:r>
          </a:p>
          <a:p>
            <a:pPr>
              <a:lnSpc>
                <a:spcPct val="115000"/>
              </a:lnSpc>
              <a:spcAft>
                <a:spcPts val="500"/>
              </a:spcAft>
            </a:pPr>
            <a:r>
              <a:rPr sz="900" b="1">
                <a:solidFill>
                  <a:srgbClr val="3B82F6"/>
                </a:solidFill>
                <a:latin typeface="Arial"/>
              </a:rPr>
              <a:t>•  </a:t>
            </a:r>
            <a:r>
              <a:rPr sz="900" b="1">
                <a:solidFill>
                  <a:srgbClr val="FFFFFF"/>
                </a:solidFill>
                <a:latin typeface="Arial"/>
              </a:rPr>
              <a:t>Herramienta pg_dump:</a:t>
            </a:r>
            <a:r>
              <a:rPr sz="850">
                <a:solidFill>
                  <a:srgbClr val="94A3B8"/>
                </a:solidFill>
                <a:latin typeface="Arial"/>
              </a:rPr>
              <a:t> Herramienta estándar incluida con PostgreSQL para respaldo lógico.</a:t>
            </a:r>
          </a:p>
          <a:p>
            <a:pPr>
              <a:lnSpc>
                <a:spcPct val="115000"/>
              </a:lnSpc>
              <a:spcAft>
                <a:spcPts val="500"/>
              </a:spcAft>
            </a:pPr>
            <a:r>
              <a:rPr sz="900" b="1">
                <a:solidFill>
                  <a:srgbClr val="3B82F6"/>
                </a:solidFill>
                <a:latin typeface="Arial"/>
              </a:rPr>
              <a:t>•  </a:t>
            </a:r>
            <a:r>
              <a:rPr sz="900" b="1">
                <a:solidFill>
                  <a:srgbClr val="FFFFFF"/>
                </a:solidFill>
                <a:latin typeface="Arial"/>
              </a:rPr>
              <a:t>Formato Custom (-F c):</a:t>
            </a:r>
            <a:r>
              <a:rPr sz="850">
                <a:solidFill>
                  <a:srgbClr val="94A3B8"/>
                </a:solidFill>
                <a:latin typeface="Arial"/>
              </a:rPr>
              <a:t> Formato comprimido y flexible de PostgreSQL.</a:t>
            </a:r>
          </a:p>
          <a:p>
            <a:pPr>
              <a:lnSpc>
                <a:spcPct val="115000"/>
              </a:lnSpc>
              <a:spcAft>
                <a:spcPts val="500"/>
              </a:spcAft>
            </a:pPr>
            <a:r>
              <a:rPr sz="900" b="1">
                <a:solidFill>
                  <a:srgbClr val="3B82F6"/>
                </a:solidFill>
                <a:latin typeface="Arial"/>
              </a:rPr>
              <a:t>•  </a:t>
            </a:r>
            <a:r>
              <a:rPr sz="900" b="1">
                <a:solidFill>
                  <a:srgbClr val="FFFFFF"/>
                </a:solidFill>
                <a:latin typeface="Arial"/>
              </a:rPr>
              <a:t>Almacenamiento Seguro:</a:t>
            </a:r>
            <a:r>
              <a:rPr sz="850">
                <a:solidFill>
                  <a:srgbClr val="94A3B8"/>
                </a:solidFill>
                <a:latin typeface="Arial"/>
              </a:rPr>
              <a:t> La copia debe guardarse fuera del directorio principal y en otro equipo o medio.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492240" y="5184648"/>
            <a:ext cx="4764024" cy="1133856"/>
          </a:xfrm>
          <a:prstGeom prst="roundRect">
            <a:avLst/>
          </a:prstGeom>
          <a:solidFill>
            <a:srgbClr val="0B162C"/>
          </a:solidFill>
          <a:ln w="1905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6583680" y="5257800"/>
            <a:ext cx="2587752" cy="182880"/>
          </a:xfrm>
          <a:prstGeom prst="roundRect">
            <a:avLst/>
          </a:prstGeom>
          <a:solidFill>
            <a:srgbClr val="142A50"/>
          </a:solidFill>
          <a:ln w="9525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" rIns="45720" tIns="0" bIns="0"/>
          <a:lstStyle/>
          <a:p>
            <a:pPr algn="ctr"/>
            <a:r>
              <a:rPr sz="700" b="1">
                <a:solidFill>
                  <a:srgbClr val="38BDF8"/>
                </a:solidFill>
                <a:latin typeface="Consolas"/>
              </a:rPr>
              <a:t>⚡ COMANDO DE RESPALDO CON PG_DUMP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601968" y="5458968"/>
            <a:ext cx="4544568" cy="822960"/>
          </a:xfrm>
          <a:prstGeom prst="rect">
            <a:avLst/>
          </a:prstGeom>
          <a:noFill/>
        </p:spPr>
        <p:txBody>
          <a:bodyPr wrap="square" lIns="0" tIns="0" bIns="0" rIns="0">
            <a:spAutoFit/>
          </a:bodyPr>
          <a:lstStyle/>
          <a:p>
            <a:pPr>
              <a:spcAft>
                <a:spcPts val="200"/>
              </a:spcAft>
            </a:pPr>
            <a:r>
              <a:rPr sz="850" b="1">
                <a:solidFill>
                  <a:srgbClr val="34D399"/>
                </a:solidFill>
                <a:latin typeface="Consolas"/>
              </a:rPr>
              <a:t>$ </a:t>
            </a:r>
            <a:r>
              <a:rPr sz="850" b="1">
                <a:solidFill>
                  <a:srgbClr val="FFFFFF"/>
                </a:solidFill>
                <a:latin typeface="Consolas"/>
              </a:rPr>
              <a:t>pg_dump -U postgres -F c -d app_practica \</a:t>
            </a:r>
          </a:p>
          <a:p>
            <a:pPr>
              <a:spcAft>
                <a:spcPts val="200"/>
              </a:spcAft>
            </a:pPr>
            <a:r>
              <a:rPr sz="850">
                <a:solidFill>
                  <a:srgbClr val="38BDF8"/>
                </a:solidFill>
                <a:latin typeface="Consolas"/>
              </a:rPr>
              <a:t>  -f app_practica.backup</a:t>
            </a:r>
          </a:p>
          <a:p>
            <a:pPr>
              <a:spcAft>
                <a:spcPts val="200"/>
              </a:spcAft>
            </a:pPr>
            <a:r>
              <a:rPr sz="800" i="1">
                <a:solidFill>
                  <a:srgbClr val="64748B"/>
                </a:solidFill>
                <a:latin typeface="Consolas"/>
              </a:rPr>
              <a:t># Genera archivo de respaldo lógico comprobable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92240" y="6135624"/>
            <a:ext cx="4764024" cy="256032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r>
              <a:rPr sz="800" b="1">
                <a:solidFill>
                  <a:srgbClr val="38BDF8"/>
                </a:solidFill>
                <a:latin typeface="Arial"/>
              </a:rPr>
              <a:t>● ARCHIVO app_practica.backup GENERADO</a:t>
            </a:r>
          </a:p>
        </p:txBody>
      </p:sp>
    </p:spTree>
  </p:cSld>
  <p:transition spd="med">
    <p:push dir="u"/>
  </p:transition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90C1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347472"/>
            <a:ext cx="3474720" cy="274320"/>
          </a:xfrm>
          <a:prstGeom prst="roundRect">
            <a:avLst/>
          </a:prstGeom>
          <a:solidFill>
            <a:srgbClr val="121C34"/>
          </a:solidFill>
          <a:ln w="12700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18288" bIns="18288"/>
          <a:lstStyle/>
          <a:p>
            <a:pPr algn="ctr"/>
            <a:r>
              <a:rPr sz="850" b="1">
                <a:solidFill>
                  <a:srgbClr val="38BDF8"/>
                </a:solidFill>
                <a:latin typeface="Arial"/>
              </a:rPr>
              <a:t>●  SECCIÓN 5 // VALIDACIÓN EXPERIMENTAL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601200" y="347472"/>
            <a:ext cx="1828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50" b="1">
                <a:solidFill>
                  <a:srgbClr val="64748B"/>
                </a:solidFill>
                <a:latin typeface="Consolas"/>
              </a:rPr>
              <a:t>SLIDE 13 / 14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676656"/>
            <a:ext cx="10698480" cy="438912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r>
              <a:rPr sz="2000" b="1">
                <a:solidFill>
                  <a:srgbClr val="FFFFFF"/>
                </a:solidFill>
                <a:latin typeface="Arial"/>
              </a:rPr>
              <a:t>Verificación de la Configuración y Pruebas de Laboratorio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133856"/>
            <a:ext cx="10698480" cy="292608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r>
              <a:rPr sz="1050">
                <a:solidFill>
                  <a:srgbClr val="94A3B8"/>
                </a:solidFill>
                <a:latin typeface="Arial"/>
              </a:rPr>
              <a:t>Tabla completa de pruebas realizadas para demostrar los controles durante la defensa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572768"/>
            <a:ext cx="5486400" cy="4892040"/>
          </a:xfrm>
          <a:prstGeom prst="roundRect">
            <a:avLst/>
          </a:prstGeom>
          <a:solidFill>
            <a:srgbClr val="141C30"/>
          </a:solidFill>
          <a:ln w="19050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32688" y="1737360"/>
            <a:ext cx="5084064" cy="31546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</a:pPr>
            <a:r>
              <a:rPr sz="1200" b="1">
                <a:solidFill>
                  <a:srgbClr val="38BDF8"/>
                </a:solidFill>
                <a:latin typeface="Arial"/>
              </a:rPr>
              <a:t>🧪 Tabla de Pruebas de Verificación (Sección 5 del Informe)</a:t>
            </a:r>
          </a:p>
          <a:p>
            <a:pPr>
              <a:lnSpc>
                <a:spcPct val="115000"/>
              </a:lnSpc>
              <a:spcAft>
                <a:spcPts val="500"/>
              </a:spcAft>
            </a:pPr>
            <a:r>
              <a:rPr sz="900" b="1">
                <a:solidFill>
                  <a:srgbClr val="38BDF8"/>
                </a:solidFill>
                <a:latin typeface="Arial"/>
              </a:rPr>
              <a:t>•  </a:t>
            </a:r>
            <a:r>
              <a:rPr sz="900" b="1">
                <a:solidFill>
                  <a:srgbClr val="FFFFFF"/>
                </a:solidFill>
                <a:latin typeface="Arial"/>
              </a:rPr>
              <a:t>1. Servicio activo:</a:t>
            </a:r>
            <a:r>
              <a:rPr sz="850">
                <a:solidFill>
                  <a:srgbClr val="94A3B8"/>
                </a:solidFill>
                <a:latin typeface="Arial"/>
              </a:rPr>
              <a:t> `systemctl is-active postgresql` ➔ Debe mostrar 'active'.</a:t>
            </a:r>
          </a:p>
          <a:p>
            <a:pPr>
              <a:lnSpc>
                <a:spcPct val="115000"/>
              </a:lnSpc>
              <a:spcAft>
                <a:spcPts val="500"/>
              </a:spcAft>
            </a:pPr>
            <a:r>
              <a:rPr sz="900" b="1">
                <a:solidFill>
                  <a:srgbClr val="38BDF8"/>
                </a:solidFill>
                <a:latin typeface="Arial"/>
              </a:rPr>
              <a:t>•  </a:t>
            </a:r>
            <a:r>
              <a:rPr sz="900" b="1">
                <a:solidFill>
                  <a:srgbClr val="FFFFFF"/>
                </a:solidFill>
                <a:latin typeface="Arial"/>
              </a:rPr>
              <a:t>2. Versión instalada:</a:t>
            </a:r>
            <a:r>
              <a:rPr sz="850">
                <a:solidFill>
                  <a:srgbClr val="94A3B8"/>
                </a:solidFill>
                <a:latin typeface="Arial"/>
              </a:rPr>
              <a:t> `psql --version` ➔ Debe mostrar 'PostgreSQL 16.x'.</a:t>
            </a:r>
          </a:p>
          <a:p>
            <a:pPr>
              <a:lnSpc>
                <a:spcPct val="115000"/>
              </a:lnSpc>
              <a:spcAft>
                <a:spcPts val="500"/>
              </a:spcAft>
            </a:pPr>
            <a:r>
              <a:rPr sz="900" b="1">
                <a:solidFill>
                  <a:srgbClr val="38BDF8"/>
                </a:solidFill>
                <a:latin typeface="Arial"/>
              </a:rPr>
              <a:t>•  </a:t>
            </a:r>
            <a:r>
              <a:rPr sz="900" b="1">
                <a:solidFill>
                  <a:srgbClr val="FFFFFF"/>
                </a:solidFill>
                <a:latin typeface="Arial"/>
              </a:rPr>
              <a:t>3. Roles creados:</a:t>
            </a:r>
            <a:r>
              <a:rPr sz="850">
                <a:solidFill>
                  <a:srgbClr val="94A3B8"/>
                </a:solidFill>
                <a:latin typeface="Arial"/>
              </a:rPr>
              <a:t> `\du` dentro de psql ➔ Deben aparecer 'app_user', 'rol_lectura' y 'rol_escritura'.</a:t>
            </a:r>
          </a:p>
          <a:p>
            <a:pPr>
              <a:lnSpc>
                <a:spcPct val="115000"/>
              </a:lnSpc>
              <a:spcAft>
                <a:spcPts val="500"/>
              </a:spcAft>
            </a:pPr>
            <a:r>
              <a:rPr sz="900" b="1">
                <a:solidFill>
                  <a:srgbClr val="38BDF8"/>
                </a:solidFill>
                <a:latin typeface="Arial"/>
              </a:rPr>
              <a:t>•  </a:t>
            </a:r>
            <a:r>
              <a:rPr sz="900" b="1">
                <a:solidFill>
                  <a:srgbClr val="FFFFFF"/>
                </a:solidFill>
                <a:latin typeface="Arial"/>
              </a:rPr>
              <a:t>4. Método de contraseña:</a:t>
            </a:r>
            <a:r>
              <a:rPr sz="850">
                <a:solidFill>
                  <a:srgbClr val="94A3B8"/>
                </a:solidFill>
                <a:latin typeface="Arial"/>
              </a:rPr>
              <a:t> `SHOW password_encryption;` ➔ Debe mostrar 'scram-sha-256'.</a:t>
            </a:r>
          </a:p>
          <a:p>
            <a:pPr>
              <a:lnSpc>
                <a:spcPct val="115000"/>
              </a:lnSpc>
              <a:spcAft>
                <a:spcPts val="500"/>
              </a:spcAft>
            </a:pPr>
            <a:r>
              <a:rPr sz="900" b="1">
                <a:solidFill>
                  <a:srgbClr val="38BDF8"/>
                </a:solidFill>
                <a:latin typeface="Arial"/>
              </a:rPr>
              <a:t>•  </a:t>
            </a:r>
            <a:r>
              <a:rPr sz="900" b="1">
                <a:solidFill>
                  <a:srgbClr val="FFFFFF"/>
                </a:solidFill>
                <a:latin typeface="Arial"/>
              </a:rPr>
              <a:t>5. Conexión cifrada:</a:t>
            </a:r>
            <a:r>
              <a:rPr sz="850">
                <a:solidFill>
                  <a:srgbClr val="94A3B8"/>
                </a:solidFill>
                <a:latin typeface="Arial"/>
              </a:rPr>
              <a:t> `\conninfo` desde conexión remota ➔ Debe indicar que la conexión utiliza SSL/TLS.</a:t>
            </a:r>
          </a:p>
          <a:p>
            <a:pPr>
              <a:lnSpc>
                <a:spcPct val="115000"/>
              </a:lnSpc>
              <a:spcAft>
                <a:spcPts val="500"/>
              </a:spcAft>
            </a:pPr>
            <a:r>
              <a:rPr sz="900" b="1">
                <a:solidFill>
                  <a:srgbClr val="38BDF8"/>
                </a:solidFill>
                <a:latin typeface="Arial"/>
              </a:rPr>
              <a:t>•  </a:t>
            </a:r>
            <a:r>
              <a:rPr sz="900" b="1">
                <a:solidFill>
                  <a:srgbClr val="FFFFFF"/>
                </a:solidFill>
                <a:latin typeface="Arial"/>
              </a:rPr>
              <a:t>6. Restricción de acceso:</a:t>
            </a:r>
            <a:r>
              <a:rPr sz="850">
                <a:solidFill>
                  <a:srgbClr val="94A3B8"/>
                </a:solidFill>
                <a:latin typeface="Arial"/>
              </a:rPr>
              <a:t> Intentar conexión desde red no autorizada ➔ La conexión debe ser rechazada.</a:t>
            </a:r>
          </a:p>
          <a:p>
            <a:pPr>
              <a:lnSpc>
                <a:spcPct val="115000"/>
              </a:lnSpc>
              <a:spcAft>
                <a:spcPts val="500"/>
              </a:spcAft>
            </a:pPr>
            <a:r>
              <a:rPr sz="900" b="1">
                <a:solidFill>
                  <a:srgbClr val="38BDF8"/>
                </a:solidFill>
                <a:latin typeface="Arial"/>
              </a:rPr>
              <a:t>•  </a:t>
            </a:r>
            <a:r>
              <a:rPr sz="900" b="1">
                <a:solidFill>
                  <a:srgbClr val="FFFFFF"/>
                </a:solidFill>
                <a:latin typeface="Arial"/>
              </a:rPr>
              <a:t>7. Respaldo:</a:t>
            </a:r>
            <a:r>
              <a:rPr sz="850">
                <a:solidFill>
                  <a:srgbClr val="94A3B8"/>
                </a:solidFill>
                <a:latin typeface="Arial"/>
              </a:rPr>
              <a:t> Verificar archivo `app_practica.backup` ➔ El archivo debe existir y tener contenido.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932688" y="5184648"/>
            <a:ext cx="5084064" cy="1133856"/>
          </a:xfrm>
          <a:prstGeom prst="roundRect">
            <a:avLst/>
          </a:prstGeom>
          <a:solidFill>
            <a:srgbClr val="0B162C"/>
          </a:solidFill>
          <a:ln w="1905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1024128" y="5257800"/>
            <a:ext cx="2368296" cy="182880"/>
          </a:xfrm>
          <a:prstGeom prst="roundRect">
            <a:avLst/>
          </a:prstGeom>
          <a:solidFill>
            <a:srgbClr val="142A50"/>
          </a:solidFill>
          <a:ln w="9525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" rIns="45720" tIns="0" bIns="0"/>
          <a:lstStyle/>
          <a:p>
            <a:pPr algn="ctr"/>
            <a:r>
              <a:rPr sz="700" b="1">
                <a:solidFill>
                  <a:srgbClr val="38BDF8"/>
                </a:solidFill>
                <a:latin typeface="Consolas"/>
              </a:rPr>
              <a:t>⚡ REINICIO PREVIO DEL SERVICIO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42416" y="5458968"/>
            <a:ext cx="4864608" cy="822960"/>
          </a:xfrm>
          <a:prstGeom prst="rect">
            <a:avLst/>
          </a:prstGeom>
          <a:noFill/>
        </p:spPr>
        <p:txBody>
          <a:bodyPr wrap="square" lIns="0" tIns="0" bIns="0" rIns="0">
            <a:spAutoFit/>
          </a:bodyPr>
          <a:lstStyle/>
          <a:p>
            <a:pPr>
              <a:spcAft>
                <a:spcPts val="200"/>
              </a:spcAft>
            </a:pPr>
            <a:r>
              <a:rPr sz="850" b="1">
                <a:solidFill>
                  <a:srgbClr val="34D399"/>
                </a:solidFill>
                <a:latin typeface="Consolas"/>
              </a:rPr>
              <a:t>$ </a:t>
            </a:r>
            <a:r>
              <a:rPr sz="850" b="1">
                <a:solidFill>
                  <a:srgbClr val="FFFFFF"/>
                </a:solidFill>
                <a:latin typeface="Consolas"/>
              </a:rPr>
              <a:t>sudo systemctl restart postgresql</a:t>
            </a:r>
          </a:p>
          <a:p>
            <a:pPr>
              <a:spcAft>
                <a:spcPts val="200"/>
              </a:spcAft>
            </a:pPr>
            <a:r>
              <a:rPr sz="850" b="1">
                <a:solidFill>
                  <a:srgbClr val="34D399"/>
                </a:solidFill>
                <a:latin typeface="Consolas"/>
              </a:rPr>
              <a:t>$ </a:t>
            </a:r>
            <a:r>
              <a:rPr sz="850" b="1">
                <a:solidFill>
                  <a:srgbClr val="FFFFFF"/>
                </a:solidFill>
                <a:latin typeface="Consolas"/>
              </a:rPr>
              <a:t>sudo systemctl is-active postgresql</a:t>
            </a:r>
          </a:p>
          <a:p>
            <a:pPr>
              <a:spcAft>
                <a:spcPts val="200"/>
              </a:spcAft>
            </a:pPr>
            <a:r>
              <a:rPr sz="850">
                <a:solidFill>
                  <a:srgbClr val="38BDF8"/>
                </a:solidFill>
                <a:latin typeface="Consolas"/>
              </a:rPr>
              <a:t>  active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32688" y="6135624"/>
            <a:ext cx="5084064" cy="256032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r>
              <a:rPr sz="800" b="1">
                <a:solidFill>
                  <a:srgbClr val="10B981"/>
                </a:solidFill>
                <a:latin typeface="Arial"/>
              </a:rPr>
              <a:t>● 7 PRUEBAS DEMOSTRABLES EN VIVO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446520" y="1572768"/>
            <a:ext cx="5010912" cy="4892040"/>
          </a:xfrm>
          <a:prstGeom prst="roundRect">
            <a:avLst/>
          </a:prstGeom>
          <a:solidFill>
            <a:srgbClr val="101524"/>
          </a:solidFill>
          <a:ln w="12700">
            <a:solidFill>
              <a:srgbClr val="232D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647688" y="1737360"/>
            <a:ext cx="4608576" cy="31546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</a:pPr>
            <a:r>
              <a:rPr sz="1200" b="1">
                <a:solidFill>
                  <a:srgbClr val="FFFFFF"/>
                </a:solidFill>
                <a:latin typeface="Arial"/>
              </a:rPr>
              <a:t>🎯 Criterio de Evaluación de la Defensa</a:t>
            </a:r>
          </a:p>
          <a:p>
            <a:pPr>
              <a:lnSpc>
                <a:spcPct val="115000"/>
              </a:lnSpc>
              <a:spcAft>
                <a:spcPts val="500"/>
              </a:spcAft>
            </a:pPr>
            <a:r>
              <a:rPr sz="900" b="1">
                <a:solidFill>
                  <a:srgbClr val="3B82F6"/>
                </a:solidFill>
                <a:latin typeface="Arial"/>
              </a:rPr>
              <a:t>•  </a:t>
            </a:r>
            <a:r>
              <a:rPr sz="900" b="1">
                <a:solidFill>
                  <a:srgbClr val="FFFFFF"/>
                </a:solidFill>
                <a:latin typeface="Arial"/>
              </a:rPr>
              <a:t>Finalidad de las Pruebas:</a:t>
            </a:r>
            <a:r>
              <a:rPr sz="850">
                <a:solidFill>
                  <a:srgbClr val="94A3B8"/>
                </a:solidFill>
                <a:latin typeface="Arial"/>
              </a:rPr>
              <a:t> Verificar que las configuraciones principales quedaron activas y pueden demostrarse ante el docente.</a:t>
            </a:r>
          </a:p>
          <a:p>
            <a:pPr>
              <a:lnSpc>
                <a:spcPct val="115000"/>
              </a:lnSpc>
              <a:spcAft>
                <a:spcPts val="500"/>
              </a:spcAft>
            </a:pPr>
            <a:r>
              <a:rPr sz="900" b="1">
                <a:solidFill>
                  <a:srgbClr val="3B82F6"/>
                </a:solidFill>
                <a:latin typeface="Arial"/>
              </a:rPr>
              <a:t>•  </a:t>
            </a:r>
            <a:r>
              <a:rPr sz="900" b="1">
                <a:solidFill>
                  <a:srgbClr val="FFFFFF"/>
                </a:solidFill>
                <a:latin typeface="Arial"/>
              </a:rPr>
              <a:t>Sin Auditoría Compleja:</a:t>
            </a:r>
            <a:r>
              <a:rPr sz="850">
                <a:solidFill>
                  <a:srgbClr val="94A3B8"/>
                </a:solidFill>
                <a:latin typeface="Arial"/>
              </a:rPr>
              <a:t> No se requiere software externo de auditoría; las comprobaciones se ejecutan con comandos estándar de psql y Linux.</a:t>
            </a:r>
          </a:p>
          <a:p>
            <a:pPr>
              <a:lnSpc>
                <a:spcPct val="115000"/>
              </a:lnSpc>
              <a:spcAft>
                <a:spcPts val="500"/>
              </a:spcAft>
            </a:pPr>
            <a:r>
              <a:rPr sz="900" b="1">
                <a:solidFill>
                  <a:srgbClr val="3B82F6"/>
                </a:solidFill>
                <a:latin typeface="Arial"/>
              </a:rPr>
              <a:t>•  </a:t>
            </a:r>
            <a:r>
              <a:rPr sz="900" b="1">
                <a:solidFill>
                  <a:srgbClr val="FFFFFF"/>
                </a:solidFill>
                <a:latin typeface="Arial"/>
              </a:rPr>
              <a:t>Facilidad de Demostración:</a:t>
            </a:r>
            <a:r>
              <a:rPr sz="850">
                <a:solidFill>
                  <a:srgbClr val="94A3B8"/>
                </a:solidFill>
                <a:latin typeface="Arial"/>
              </a:rPr>
              <a:t> Comandos directos y reproducibles en pocos segundos durante la exposición oral.</a:t>
            </a:r>
          </a:p>
          <a:p>
            <a:pPr>
              <a:lnSpc>
                <a:spcPct val="115000"/>
              </a:lnSpc>
              <a:spcAft>
                <a:spcPts val="500"/>
              </a:spcAft>
            </a:pPr>
            <a:r>
              <a:rPr sz="900" b="1">
                <a:solidFill>
                  <a:srgbClr val="3B82F6"/>
                </a:solidFill>
                <a:latin typeface="Arial"/>
              </a:rPr>
              <a:t>•  </a:t>
            </a:r>
            <a:r>
              <a:rPr sz="900" b="1">
                <a:solidFill>
                  <a:srgbClr val="FFFFFF"/>
                </a:solidFill>
                <a:latin typeface="Arial"/>
              </a:rPr>
              <a:t>Evidencia de Respaldo:</a:t>
            </a:r>
            <a:r>
              <a:rPr sz="850">
                <a:solidFill>
                  <a:srgbClr val="94A3B8"/>
                </a:solidFill>
                <a:latin typeface="Arial"/>
              </a:rPr>
              <a:t> Comprobación de que el archivo generado no está vacío y es utilizable.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647688" y="5184648"/>
            <a:ext cx="4608576" cy="1133856"/>
          </a:xfrm>
          <a:prstGeom prst="roundRect">
            <a:avLst/>
          </a:prstGeom>
          <a:solidFill>
            <a:srgbClr val="0B162C"/>
          </a:solidFill>
          <a:ln w="1905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6739128" y="5257800"/>
            <a:ext cx="2953512" cy="182880"/>
          </a:xfrm>
          <a:prstGeom prst="roundRect">
            <a:avLst/>
          </a:prstGeom>
          <a:solidFill>
            <a:srgbClr val="142A50"/>
          </a:solidFill>
          <a:ln w="9525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" rIns="45720" tIns="0" bIns="0"/>
          <a:lstStyle/>
          <a:p>
            <a:pPr algn="ctr"/>
            <a:r>
              <a:rPr sz="700" b="1">
                <a:solidFill>
                  <a:srgbClr val="38BDF8"/>
                </a:solidFill>
                <a:latin typeface="Consolas"/>
              </a:rPr>
              <a:t>⚡ COMANDOS DE COMPROBACIÓN EN TERMINAL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757416" y="5458968"/>
            <a:ext cx="4389120" cy="822960"/>
          </a:xfrm>
          <a:prstGeom prst="rect">
            <a:avLst/>
          </a:prstGeom>
          <a:noFill/>
        </p:spPr>
        <p:txBody>
          <a:bodyPr wrap="square" lIns="0" tIns="0" bIns="0" rIns="0">
            <a:spAutoFit/>
          </a:bodyPr>
          <a:lstStyle/>
          <a:p>
            <a:pPr>
              <a:spcAft>
                <a:spcPts val="200"/>
              </a:spcAft>
            </a:pPr>
            <a:r>
              <a:rPr sz="850" b="1">
                <a:solidFill>
                  <a:srgbClr val="34D399"/>
                </a:solidFill>
                <a:latin typeface="Consolas"/>
              </a:rPr>
              <a:t>$ </a:t>
            </a:r>
            <a:r>
              <a:rPr sz="850" b="1">
                <a:solidFill>
                  <a:srgbClr val="FFFFFF"/>
                </a:solidFill>
                <a:latin typeface="Consolas"/>
              </a:rPr>
              <a:t>psql -U app_user -d app_practica -h 192.168.1.50</a:t>
            </a:r>
          </a:p>
          <a:p>
            <a:pPr>
              <a:spcAft>
                <a:spcPts val="200"/>
              </a:spcAft>
            </a:pPr>
            <a:r>
              <a:rPr sz="850" b="1">
                <a:solidFill>
                  <a:srgbClr val="38BDF8"/>
                </a:solidFill>
                <a:latin typeface="Consolas"/>
              </a:rPr>
              <a:t>app_practica=</a:t>
            </a:r>
            <a:r>
              <a:rPr sz="850">
                <a:solidFill>
                  <a:srgbClr val="D8B4FE"/>
                </a:solidFill>
                <a:latin typeface="Consolas"/>
              </a:rPr>
              <a:t>&gt; \conninfo</a:t>
            </a:r>
          </a:p>
          <a:p>
            <a:pPr>
              <a:spcAft>
                <a:spcPts val="200"/>
              </a:spcAft>
            </a:pPr>
            <a:r>
              <a:rPr sz="850">
                <a:solidFill>
                  <a:srgbClr val="38BDF8"/>
                </a:solidFill>
                <a:latin typeface="Consolas"/>
              </a:rPr>
              <a:t>You are connected to database "app_practica"</a:t>
            </a:r>
          </a:p>
          <a:p>
            <a:pPr>
              <a:spcAft>
                <a:spcPts val="200"/>
              </a:spcAft>
            </a:pPr>
            <a:r>
              <a:rPr sz="850">
                <a:solidFill>
                  <a:srgbClr val="38BDF8"/>
                </a:solidFill>
                <a:latin typeface="Consolas"/>
              </a:rPr>
              <a:t>SSL connection (protocol: TLSv1.3, bits: 256)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647688" y="6135624"/>
            <a:ext cx="4608576" cy="256032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r>
              <a:rPr sz="800" b="1">
                <a:solidFill>
                  <a:srgbClr val="38BDF8"/>
                </a:solidFill>
                <a:latin typeface="Arial"/>
              </a:rPr>
              <a:t>● VALIDACIÓN SATISFACTORIA</a:t>
            </a:r>
          </a:p>
        </p:txBody>
      </p:sp>
    </p:spTree>
  </p:cSld>
  <p:transition spd="med">
    <p:fade/>
  </p:transition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90C1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347472"/>
            <a:ext cx="4032504" cy="274320"/>
          </a:xfrm>
          <a:prstGeom prst="roundRect">
            <a:avLst/>
          </a:prstGeom>
          <a:solidFill>
            <a:srgbClr val="121C34"/>
          </a:solidFill>
          <a:ln w="12700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18288" bIns="18288"/>
          <a:lstStyle/>
          <a:p>
            <a:pPr algn="ctr"/>
            <a:r>
              <a:rPr sz="850" b="1">
                <a:solidFill>
                  <a:srgbClr val="38BDF8"/>
                </a:solidFill>
                <a:latin typeface="Arial"/>
              </a:rPr>
              <a:t>●  SECCIÓN 6 Y 7 // RESULTADOS Y CONCLUSIONES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601200" y="347472"/>
            <a:ext cx="1828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50" b="1">
                <a:solidFill>
                  <a:srgbClr val="64748B"/>
                </a:solidFill>
                <a:latin typeface="Consolas"/>
              </a:rPr>
              <a:t>SLIDE 14 / 14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676656"/>
            <a:ext cx="10698480" cy="438912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r>
              <a:rPr sz="2000" b="1">
                <a:solidFill>
                  <a:srgbClr val="FFFFFF"/>
                </a:solidFill>
                <a:latin typeface="Arial"/>
              </a:rPr>
              <a:t>Resultados de la Práctica y Conclusiones Académicas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133856"/>
            <a:ext cx="10698480" cy="292608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r>
              <a:rPr sz="1050">
                <a:solidFill>
                  <a:srgbClr val="94A3B8"/>
                </a:solidFill>
                <a:latin typeface="Arial"/>
              </a:rPr>
              <a:t>Comparativa básica vs hardening, lecciones aprendidas y propuestas de trabajo futuro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572768"/>
            <a:ext cx="5943600" cy="4892040"/>
          </a:xfrm>
          <a:prstGeom prst="roundRect">
            <a:avLst/>
          </a:prstGeom>
          <a:solidFill>
            <a:srgbClr val="141C30"/>
          </a:solidFill>
          <a:ln w="19050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32688" y="1737360"/>
            <a:ext cx="5541264" cy="31546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</a:pPr>
            <a:r>
              <a:rPr sz="1200" b="1">
                <a:solidFill>
                  <a:srgbClr val="38BDF8"/>
                </a:solidFill>
                <a:latin typeface="Arial"/>
              </a:rPr>
              <a:t>📊 Tabla Comparativa: Antes vs Después del Hardening</a:t>
            </a:r>
          </a:p>
          <a:p>
            <a:pPr>
              <a:lnSpc>
                <a:spcPct val="115000"/>
              </a:lnSpc>
              <a:spcAft>
                <a:spcPts val="500"/>
              </a:spcAft>
            </a:pPr>
            <a:r>
              <a:rPr sz="900" b="1">
                <a:solidFill>
                  <a:srgbClr val="38BDF8"/>
                </a:solidFill>
                <a:latin typeface="Arial"/>
              </a:rPr>
              <a:t>•  </a:t>
            </a:r>
            <a:r>
              <a:rPr sz="900" b="1">
                <a:solidFill>
                  <a:srgbClr val="FFFFFF"/>
                </a:solidFill>
                <a:latin typeface="Arial"/>
              </a:rPr>
              <a:t>Acceso:</a:t>
            </a:r>
            <a:r>
              <a:rPr sz="850">
                <a:solidFill>
                  <a:srgbClr val="94A3B8"/>
                </a:solidFill>
                <a:latin typeface="Arial"/>
              </a:rPr>
              <a:t> Reglas generales por defecto ➔ Acceso limitado por usuario y red en pg_hba.conf.</a:t>
            </a:r>
          </a:p>
          <a:p>
            <a:pPr>
              <a:lnSpc>
                <a:spcPct val="115000"/>
              </a:lnSpc>
              <a:spcAft>
                <a:spcPts val="500"/>
              </a:spcAft>
            </a:pPr>
            <a:r>
              <a:rPr sz="900" b="1">
                <a:solidFill>
                  <a:srgbClr val="38BDF8"/>
                </a:solidFill>
                <a:latin typeface="Arial"/>
              </a:rPr>
              <a:t>•  </a:t>
            </a:r>
            <a:r>
              <a:rPr sz="900" b="1">
                <a:solidFill>
                  <a:srgbClr val="FFFFFF"/>
                </a:solidFill>
                <a:latin typeface="Arial"/>
              </a:rPr>
              <a:t>Contraseñas:</a:t>
            </a:r>
            <a:r>
              <a:rPr sz="850">
                <a:solidFill>
                  <a:srgbClr val="94A3B8"/>
                </a:solidFill>
                <a:latin typeface="Arial"/>
              </a:rPr>
              <a:t> Configuración estándar ➔ Uso forzado de SCRAM-SHA-256.</a:t>
            </a:r>
          </a:p>
          <a:p>
            <a:pPr>
              <a:lnSpc>
                <a:spcPct val="115000"/>
              </a:lnSpc>
              <a:spcAft>
                <a:spcPts val="500"/>
              </a:spcAft>
            </a:pPr>
            <a:r>
              <a:rPr sz="900" b="1">
                <a:solidFill>
                  <a:srgbClr val="38BDF8"/>
                </a:solidFill>
                <a:latin typeface="Arial"/>
              </a:rPr>
              <a:t>•  </a:t>
            </a:r>
            <a:r>
              <a:rPr sz="900" b="1">
                <a:solidFill>
                  <a:srgbClr val="FFFFFF"/>
                </a:solidFill>
                <a:latin typeface="Arial"/>
              </a:rPr>
              <a:t>Permisos:</a:t>
            </a:r>
            <a:r>
              <a:rPr sz="850">
                <a:solidFill>
                  <a:srgbClr val="94A3B8"/>
                </a:solidFill>
                <a:latin typeface="Arial"/>
              </a:rPr>
              <a:t> Riesgo de otorgar permisos amplios ➔ Roles con permisos separados (lectura/escritura).</a:t>
            </a:r>
          </a:p>
          <a:p>
            <a:pPr>
              <a:lnSpc>
                <a:spcPct val="115000"/>
              </a:lnSpc>
              <a:spcAft>
                <a:spcPts val="500"/>
              </a:spcAft>
            </a:pPr>
            <a:r>
              <a:rPr sz="900" b="1">
                <a:solidFill>
                  <a:srgbClr val="38BDF8"/>
                </a:solidFill>
                <a:latin typeface="Arial"/>
              </a:rPr>
              <a:t>•  </a:t>
            </a:r>
            <a:r>
              <a:rPr sz="900" b="1">
                <a:solidFill>
                  <a:srgbClr val="FFFFFF"/>
                </a:solidFill>
                <a:latin typeface="Arial"/>
              </a:rPr>
              <a:t>Comunicación:</a:t>
            </a:r>
            <a:r>
              <a:rPr sz="850">
                <a:solidFill>
                  <a:srgbClr val="94A3B8"/>
                </a:solidFill>
                <a:latin typeface="Arial"/>
              </a:rPr>
              <a:t> Puede existir conexión sin cifrado ➔ Regla hostssl para conexión cifrada TLS.</a:t>
            </a:r>
          </a:p>
          <a:p>
            <a:pPr>
              <a:lnSpc>
                <a:spcPct val="115000"/>
              </a:lnSpc>
              <a:spcAft>
                <a:spcPts val="500"/>
              </a:spcAft>
            </a:pPr>
            <a:r>
              <a:rPr sz="900" b="1">
                <a:solidFill>
                  <a:srgbClr val="38BDF8"/>
                </a:solidFill>
                <a:latin typeface="Arial"/>
              </a:rPr>
              <a:t>•  </a:t>
            </a:r>
            <a:r>
              <a:rPr sz="900" b="1">
                <a:solidFill>
                  <a:srgbClr val="FFFFFF"/>
                </a:solidFill>
                <a:latin typeface="Arial"/>
              </a:rPr>
              <a:t>Registros:</a:t>
            </a:r>
            <a:r>
              <a:rPr sz="850">
                <a:solidFill>
                  <a:srgbClr val="94A3B8"/>
                </a:solidFill>
                <a:latin typeface="Arial"/>
              </a:rPr>
              <a:t> Información limitada para seguimiento ➔ Registro de conexiones y desconexiones.</a:t>
            </a:r>
          </a:p>
          <a:p>
            <a:pPr>
              <a:lnSpc>
                <a:spcPct val="115000"/>
              </a:lnSpc>
              <a:spcAft>
                <a:spcPts val="500"/>
              </a:spcAft>
            </a:pPr>
            <a:r>
              <a:rPr sz="900" b="1">
                <a:solidFill>
                  <a:srgbClr val="38BDF8"/>
                </a:solidFill>
                <a:latin typeface="Arial"/>
              </a:rPr>
              <a:t>•  </a:t>
            </a:r>
            <a:r>
              <a:rPr sz="900" b="1">
                <a:solidFill>
                  <a:srgbClr val="FFFFFF"/>
                </a:solidFill>
                <a:latin typeface="Arial"/>
              </a:rPr>
              <a:t>Respaldo:</a:t>
            </a:r>
            <a:r>
              <a:rPr sz="850">
                <a:solidFill>
                  <a:srgbClr val="94A3B8"/>
                </a:solidFill>
                <a:latin typeface="Arial"/>
              </a:rPr>
              <a:t> Sin copia definida en la práctica ➔ Copia lógica funcional mediante pg_dump.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932688" y="5184648"/>
            <a:ext cx="5541264" cy="1133856"/>
          </a:xfrm>
          <a:prstGeom prst="roundRect">
            <a:avLst/>
          </a:prstGeom>
          <a:solidFill>
            <a:srgbClr val="0B162C"/>
          </a:solidFill>
          <a:ln w="1905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1024128" y="5257800"/>
            <a:ext cx="3108960" cy="182880"/>
          </a:xfrm>
          <a:prstGeom prst="roundRect">
            <a:avLst/>
          </a:prstGeom>
          <a:solidFill>
            <a:srgbClr val="142A50"/>
          </a:solidFill>
          <a:ln w="9525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" rIns="45720" tIns="0" bIns="0"/>
          <a:lstStyle/>
          <a:p>
            <a:pPr algn="ctr"/>
            <a:r>
              <a:rPr sz="700" b="1">
                <a:solidFill>
                  <a:srgbClr val="38BDF8"/>
                </a:solidFill>
                <a:latin typeface="Consolas"/>
              </a:rPr>
              <a:t>⚡ TABLA OFICIAL DE RESULTADOS (SECCIÓN 6)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42416" y="5458968"/>
            <a:ext cx="5321808" cy="822960"/>
          </a:xfrm>
          <a:prstGeom prst="rect">
            <a:avLst/>
          </a:prstGeom>
          <a:noFill/>
        </p:spPr>
        <p:txBody>
          <a:bodyPr wrap="square" lIns="0" tIns="0" bIns="0" rIns="0">
            <a:spAutoFit/>
          </a:bodyPr>
          <a:lstStyle/>
          <a:p>
            <a:pPr>
              <a:spcAft>
                <a:spcPts val="200"/>
              </a:spcAft>
            </a:pPr>
            <a:r>
              <a:rPr sz="850">
                <a:solidFill>
                  <a:srgbClr val="38BDF8"/>
                </a:solidFill>
                <a:latin typeface="Consolas"/>
              </a:rPr>
              <a:t>Aspecto      | Config. Básica         | Post-Hardening</a:t>
            </a:r>
          </a:p>
          <a:p>
            <a:pPr>
              <a:spcAft>
                <a:spcPts val="200"/>
              </a:spcAft>
            </a:pPr>
            <a:r>
              <a:rPr sz="850">
                <a:solidFill>
                  <a:srgbClr val="38BDF8"/>
                </a:solidFill>
                <a:latin typeface="Consolas"/>
              </a:rPr>
              <a:t>Acceso       | General por defecto    | Limitado usuario/red</a:t>
            </a:r>
          </a:p>
          <a:p>
            <a:pPr>
              <a:spcAft>
                <a:spcPts val="200"/>
              </a:spcAft>
            </a:pPr>
            <a:r>
              <a:rPr sz="850">
                <a:solidFill>
                  <a:srgbClr val="38BDF8"/>
                </a:solidFill>
                <a:latin typeface="Consolas"/>
              </a:rPr>
              <a:t>Contraseñas  | Estándar               | SCRAM-SHA-256</a:t>
            </a:r>
          </a:p>
          <a:p>
            <a:pPr>
              <a:spcAft>
                <a:spcPts val="200"/>
              </a:spcAft>
            </a:pPr>
            <a:r>
              <a:rPr sz="850">
                <a:solidFill>
                  <a:srgbClr val="38BDF8"/>
                </a:solidFill>
                <a:latin typeface="Consolas"/>
              </a:rPr>
              <a:t>Permisos     | Riesgo permisos amplios| Roles separados</a:t>
            </a:r>
          </a:p>
          <a:p>
            <a:pPr>
              <a:spcAft>
                <a:spcPts val="200"/>
              </a:spcAft>
            </a:pPr>
            <a:r>
              <a:rPr sz="850">
                <a:solidFill>
                  <a:srgbClr val="38BDF8"/>
                </a:solidFill>
                <a:latin typeface="Consolas"/>
              </a:rPr>
              <a:t>Comunicación | Sin cifrado opcional   | Regla hostssl (TLS)</a:t>
            </a:r>
          </a:p>
          <a:p>
            <a:pPr>
              <a:spcAft>
                <a:spcPts val="200"/>
              </a:spcAft>
            </a:pPr>
            <a:r>
              <a:rPr sz="850">
                <a:solidFill>
                  <a:srgbClr val="38BDF8"/>
                </a:solidFill>
                <a:latin typeface="Consolas"/>
              </a:rPr>
              <a:t>Registros    | Información limitada   | Log conexiones/descon.</a:t>
            </a:r>
          </a:p>
          <a:p>
            <a:pPr>
              <a:spcAft>
                <a:spcPts val="200"/>
              </a:spcAft>
            </a:pPr>
            <a:r>
              <a:rPr sz="850">
                <a:solidFill>
                  <a:srgbClr val="38BDF8"/>
                </a:solidFill>
                <a:latin typeface="Consolas"/>
              </a:rPr>
              <a:t>Respaldo     | Sin copia definida     | pg_dump lógico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32688" y="6135624"/>
            <a:ext cx="5541264" cy="256032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r>
              <a:rPr sz="800" b="1">
                <a:solidFill>
                  <a:srgbClr val="10B981"/>
                </a:solidFill>
                <a:latin typeface="Arial"/>
              </a:rPr>
              <a:t>● MEJORA DIRECTA Y VERIFICABLE EN LOS 6 ASPECTOS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903720" y="1572768"/>
            <a:ext cx="4553712" cy="2331720"/>
          </a:xfrm>
          <a:prstGeom prst="roundRect">
            <a:avLst/>
          </a:prstGeom>
          <a:solidFill>
            <a:srgbClr val="101524"/>
          </a:solidFill>
          <a:ln w="12700">
            <a:solidFill>
              <a:srgbClr val="232D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104888" y="1737360"/>
            <a:ext cx="4151376" cy="1463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</a:pPr>
            <a:r>
              <a:rPr sz="1200" b="1">
                <a:solidFill>
                  <a:srgbClr val="FFFFFF"/>
                </a:solidFill>
                <a:latin typeface="Arial"/>
              </a:rPr>
              <a:t>💡 Conclusiones Principales del Trabajo</a:t>
            </a:r>
          </a:p>
          <a:p>
            <a:pPr>
              <a:lnSpc>
                <a:spcPct val="115000"/>
              </a:lnSpc>
              <a:spcAft>
                <a:spcPts val="500"/>
              </a:spcAft>
            </a:pPr>
            <a:r>
              <a:rPr sz="900" b="1">
                <a:solidFill>
                  <a:srgbClr val="3B82F6"/>
                </a:solidFill>
                <a:latin typeface="Arial"/>
              </a:rPr>
              <a:t>•  </a:t>
            </a:r>
            <a:r>
              <a:rPr sz="900" b="1">
                <a:solidFill>
                  <a:srgbClr val="FFFFFF"/>
                </a:solidFill>
                <a:latin typeface="Arial"/>
              </a:rPr>
              <a:t>Seguridad Integral:</a:t>
            </a:r>
            <a:r>
              <a:rPr sz="850">
                <a:solidFill>
                  <a:srgbClr val="94A3B8"/>
                </a:solidFill>
                <a:latin typeface="Arial"/>
              </a:rPr>
              <a:t> El hardening no consiste en aplicar una sola configuración, sino en combinar varias medidas sencillas.</a:t>
            </a:r>
          </a:p>
          <a:p>
            <a:pPr>
              <a:lnSpc>
                <a:spcPct val="115000"/>
              </a:lnSpc>
              <a:spcAft>
                <a:spcPts val="500"/>
              </a:spcAft>
            </a:pPr>
            <a:r>
              <a:rPr sz="900" b="1">
                <a:solidFill>
                  <a:srgbClr val="3B82F6"/>
                </a:solidFill>
                <a:latin typeface="Arial"/>
              </a:rPr>
              <a:t>•  </a:t>
            </a:r>
            <a:r>
              <a:rPr sz="900" b="1">
                <a:solidFill>
                  <a:srgbClr val="FFFFFF"/>
                </a:solidFill>
                <a:latin typeface="Arial"/>
              </a:rPr>
              <a:t>Adaptación al Entorno:</a:t>
            </a:r>
            <a:r>
              <a:rPr sz="850">
                <a:solidFill>
                  <a:srgbClr val="94A3B8"/>
                </a:solidFill>
                <a:latin typeface="Arial"/>
              </a:rPr>
              <a:t> Para una actividad académica es preferible utilizar configuraciones que puedan ejecutarse, verificarse y explicarse correctamente.</a:t>
            </a:r>
          </a:p>
          <a:p>
            <a:pPr>
              <a:lnSpc>
                <a:spcPct val="115000"/>
              </a:lnSpc>
              <a:spcAft>
                <a:spcPts val="500"/>
              </a:spcAft>
            </a:pPr>
            <a:r>
              <a:rPr sz="900" b="1">
                <a:solidFill>
                  <a:srgbClr val="3B82F6"/>
                </a:solidFill>
                <a:latin typeface="Arial"/>
              </a:rPr>
              <a:t>•  </a:t>
            </a:r>
            <a:r>
              <a:rPr sz="900" b="1">
                <a:solidFill>
                  <a:srgbClr val="FFFFFF"/>
                </a:solidFill>
                <a:latin typeface="Arial"/>
              </a:rPr>
              <a:t>Enfoque Práctico:</a:t>
            </a:r>
            <a:r>
              <a:rPr sz="850">
                <a:solidFill>
                  <a:srgbClr val="94A3B8"/>
                </a:solidFill>
                <a:latin typeface="Arial"/>
              </a:rPr>
              <a:t> Pequeñas configuraciones coordinadas reducen riesgos de forma significativa.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104888" y="3575304"/>
            <a:ext cx="4151376" cy="256032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r>
              <a:rPr sz="800" b="1">
                <a:solidFill>
                  <a:srgbClr val="38BDF8"/>
                </a:solidFill>
                <a:latin typeface="Arial"/>
              </a:rPr>
              <a:t>● APRENDIZAJE: COMBINACIÓN DE MEDIDAS SENCILLAS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903720" y="4087368"/>
            <a:ext cx="4553712" cy="2377440"/>
          </a:xfrm>
          <a:prstGeom prst="roundRect">
            <a:avLst/>
          </a:prstGeom>
          <a:solidFill>
            <a:srgbClr val="101524"/>
          </a:solidFill>
          <a:ln w="12700">
            <a:solidFill>
              <a:srgbClr val="232D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104888" y="4251960"/>
            <a:ext cx="4151376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</a:pPr>
            <a:r>
              <a:rPr sz="1200" b="1">
                <a:solidFill>
                  <a:srgbClr val="FFFFFF"/>
                </a:solidFill>
                <a:latin typeface="Arial"/>
              </a:rPr>
              <a:t>🚀 Recomendaciones de Trabajo Futuro</a:t>
            </a:r>
          </a:p>
          <a:p>
            <a:pPr>
              <a:lnSpc>
                <a:spcPct val="115000"/>
              </a:lnSpc>
              <a:spcAft>
                <a:spcPts val="500"/>
              </a:spcAft>
            </a:pPr>
            <a:r>
              <a:rPr sz="900" b="1">
                <a:solidFill>
                  <a:srgbClr val="3B82F6"/>
                </a:solidFill>
                <a:latin typeface="Arial"/>
              </a:rPr>
              <a:t>•  </a:t>
            </a:r>
            <a:r>
              <a:rPr sz="900" b="1">
                <a:solidFill>
                  <a:srgbClr val="FFFFFF"/>
                </a:solidFill>
                <a:latin typeface="Arial"/>
              </a:rPr>
              <a:t>Cortafuegos del Sistema:</a:t>
            </a:r>
            <a:r>
              <a:rPr sz="850">
                <a:solidFill>
                  <a:srgbClr val="94A3B8"/>
                </a:solidFill>
                <a:latin typeface="Arial"/>
              </a:rPr>
              <a:t> Incorporar UFW o iptables para restringir el puerto 5432 a nivel de SO.</a:t>
            </a:r>
          </a:p>
          <a:p>
            <a:pPr>
              <a:lnSpc>
                <a:spcPct val="115000"/>
              </a:lnSpc>
              <a:spcAft>
                <a:spcPts val="500"/>
              </a:spcAft>
            </a:pPr>
            <a:r>
              <a:rPr sz="900" b="1">
                <a:solidFill>
                  <a:srgbClr val="3B82F6"/>
                </a:solidFill>
                <a:latin typeface="Arial"/>
              </a:rPr>
              <a:t>•  </a:t>
            </a:r>
            <a:r>
              <a:rPr sz="900" b="1">
                <a:solidFill>
                  <a:srgbClr val="FFFFFF"/>
                </a:solidFill>
                <a:latin typeface="Arial"/>
              </a:rPr>
              <a:t>Herramientas de Auditoría:</a:t>
            </a:r>
            <a:r>
              <a:rPr sz="850">
                <a:solidFill>
                  <a:srgbClr val="94A3B8"/>
                </a:solidFill>
                <a:latin typeface="Arial"/>
              </a:rPr>
              <a:t> Evaluar extensiones especializadas en entornos avanzados.</a:t>
            </a:r>
          </a:p>
          <a:p>
            <a:pPr>
              <a:lnSpc>
                <a:spcPct val="115000"/>
              </a:lnSpc>
              <a:spcAft>
                <a:spcPts val="500"/>
              </a:spcAft>
            </a:pPr>
            <a:r>
              <a:rPr sz="900" b="1">
                <a:solidFill>
                  <a:srgbClr val="3B82F6"/>
                </a:solidFill>
                <a:latin typeface="Arial"/>
              </a:rPr>
              <a:t>•  </a:t>
            </a:r>
            <a:r>
              <a:rPr sz="900" b="1">
                <a:solidFill>
                  <a:srgbClr val="FFFFFF"/>
                </a:solidFill>
                <a:latin typeface="Arial"/>
              </a:rPr>
              <a:t>Política Formal de Respaldos:</a:t>
            </a:r>
            <a:r>
              <a:rPr sz="850">
                <a:solidFill>
                  <a:srgbClr val="94A3B8"/>
                </a:solidFill>
                <a:latin typeface="Arial"/>
              </a:rPr>
              <a:t> Automatizar la ejecución de respaldos con cron y rotación periódica.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104888" y="5184648"/>
            <a:ext cx="4151376" cy="1133856"/>
          </a:xfrm>
          <a:prstGeom prst="roundRect">
            <a:avLst/>
          </a:prstGeom>
          <a:solidFill>
            <a:srgbClr val="0B162C"/>
          </a:solidFill>
          <a:ln w="1905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7196328" y="5257800"/>
            <a:ext cx="2441448" cy="182880"/>
          </a:xfrm>
          <a:prstGeom prst="roundRect">
            <a:avLst/>
          </a:prstGeom>
          <a:solidFill>
            <a:srgbClr val="142A50"/>
          </a:solidFill>
          <a:ln w="9525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" rIns="45720" tIns="0" bIns="0"/>
          <a:lstStyle/>
          <a:p>
            <a:pPr algn="ctr"/>
            <a:r>
              <a:rPr sz="700" b="1">
                <a:solidFill>
                  <a:srgbClr val="38BDF8"/>
                </a:solidFill>
                <a:latin typeface="Consolas"/>
              </a:rPr>
              <a:t>⚡ LÍNEAS DE EVOLUCIÓN ACADÉMICA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214616" y="5458968"/>
            <a:ext cx="3931920" cy="822960"/>
          </a:xfrm>
          <a:prstGeom prst="rect">
            <a:avLst/>
          </a:prstGeom>
          <a:noFill/>
        </p:spPr>
        <p:txBody>
          <a:bodyPr wrap="square" lIns="0" tIns="0" bIns="0" rIns="0">
            <a:spAutoFit/>
          </a:bodyPr>
          <a:lstStyle/>
          <a:p>
            <a:pPr>
              <a:spcAft>
                <a:spcPts val="200"/>
              </a:spcAft>
            </a:pPr>
            <a:r>
              <a:rPr sz="850">
                <a:solidFill>
                  <a:srgbClr val="38BDF8"/>
                </a:solidFill>
                <a:latin typeface="Consolas"/>
              </a:rPr>
              <a:t>1. Firewall UFW en Ubuntu Server</a:t>
            </a:r>
          </a:p>
          <a:p>
            <a:pPr>
              <a:spcAft>
                <a:spcPts val="200"/>
              </a:spcAft>
            </a:pPr>
            <a:r>
              <a:rPr sz="850">
                <a:solidFill>
                  <a:srgbClr val="38BDF8"/>
                </a:solidFill>
                <a:latin typeface="Consolas"/>
              </a:rPr>
              <a:t>2. Automatización de copias con cron</a:t>
            </a:r>
          </a:p>
          <a:p>
            <a:pPr>
              <a:spcAft>
                <a:spcPts val="200"/>
              </a:spcAft>
            </a:pPr>
            <a:r>
              <a:rPr sz="850">
                <a:solidFill>
                  <a:srgbClr val="38BDF8"/>
                </a:solidFill>
                <a:latin typeface="Consolas"/>
              </a:rPr>
              <a:t>3. Pruebas de restauración pg_restore</a:t>
            </a:r>
          </a:p>
        </p:txBody>
      </p:sp>
    </p:spTree>
  </p:cSld>
  <p:transition spd="med">
    <p:checker/>
  </p:transition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