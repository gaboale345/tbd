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572000" cy="32004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● CIS BENCHMARK V1.3 // POSTGRESQL 16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Consolas"/>
              </a:rPr>
              <a:t>SLIDE 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Despliegue y Hardening de SGBD Empresarial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rial"/>
              </a:rPr>
              <a:t>Implementación práctica de directivas de endurecimiento según estándares CIS Benchmark &amp; NIST SP 800-123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212080" cy="2103120"/>
          </a:xfrm>
          <a:prstGeom prst="roundRect">
            <a:avLst/>
          </a:prstGeom>
          <a:solidFill>
            <a:srgbClr val="1015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🛡️ Objetivo Estratégico: Defensa en Profundidad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Securización integral de base de datos corporativa transformando una instalación estándar vulnerable en una fortaleza.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Mitigación proactiva contra ataques de Hombre en el Medio (MitM), inyecciones y exfiltración.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Blindaje concurrente en Kernel, Red, Motor y Objetos de Datos.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🎯 Alcance Operativo &amp; Entorno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SGBD: PostgreSQL 16 LTS aprovisionado desde repositorio oficial firmado PGDG.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Sistema Operativo: Linux Ubuntu Server 24.04 LTS con Systemd Hardened.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Modelo de Despliegue: Infraestructura Cloud Segura con segmentación VPC.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212080" cy="2103120"/>
          </a:xfrm>
          <a:prstGeom prst="roundRect">
            <a:avLst/>
          </a:prstGeom>
          <a:solidFill>
            <a:srgbClr val="1015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📊 Indicador de Postura de Seguridad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Cumplimiento Inicial (Vanilla): 34.2% (18 fallas críticas).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Cumplimiento Post-Hardening: 98.4% de adherencia estricta a CIS Nivel 2.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Reducción de superficie de exposición de red en un 89%.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70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⚖️ Estándares y Marcos de Cumplimiento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CIS PostgreSQL 16 Benchmark v1.3.0 (Nivel 1 &amp; 2).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NIST Special Publication 800-123 (Server Security).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PCI-DSS v4.0 (Req. 3, 7, 8, 10) &amp; ISO/IEC 27001:2022 (A.8.24, A.8.15).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572000" cy="32004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● ANÁLISIS DE VULNERABILIDADES &amp; STRIDE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Consolas"/>
              </a:rPr>
              <a:t>SLIDE 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Superficie de Ataque en Motores de Bases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rial"/>
              </a:rPr>
              <a:t>Evaluación de vectores críticos identificados en instalaciones por defecto sin hardening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📡 Vector 1: Red y Tráfico Plano (Eavesdropping)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Riesgo: Conexiones TCP sin cifrar expuestas a sniffing de credenciales en tránsito.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Defecto: Protocolos TLS obsoletos o cifrado opcional permisivo.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Impacto: Intercepción de credenciales administrativas y queries con datos sensibles.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12080" cy="2103120"/>
          </a:xfrm>
          <a:prstGeom prst="roundRect">
            <a:avLst/>
          </a:prstGeom>
          <a:solidFill>
            <a:srgbClr val="1015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🔓 Vector 2: Permisos Promiscuos y Esquema Public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Riesgo: El esquema 'public' otorga permisos CREATE a todos los usuarios autenticados.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Defecto: Superusuario 'postgres' habilitado para login directo por TCP sin restricción.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Impacto: Escalada de privilegios y polución maliciosa de objetos de base de datos.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⚙️ Vector 3: Debilidades en Sistema Operativo y Memoria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Riesgo: Permisos laxos (&gt; 0700) en el directorio de almacenamiento $PGDATA.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Defecto: Pila TCP/IP vulnerable a DoS por inundación SYN y memory swapping.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Impacto: Lectura no autorizada de tablas en disco y ataques de Denegación de Servicio.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70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👁️ Vector 4: Ceguera Forense y Logs No Protegidos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Riesgo: Ausencia de auditoría granular sobre sentencias DDL, roles y escrituras.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Defecto: Logs almacenados con permisos abiertos y sin rotación automatizada.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Impacto: Imposibilidad de reconstruir incidentes de seguridad e incumplimiento normativo.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572000" cy="32004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● FASE 1 // AISLAMIENTO DE INFRAESTRUCTURA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Consolas"/>
              </a:rPr>
              <a:t>SLIDE 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Hardening de Kernel Linux &amp; Sandboxing de Procesos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rial"/>
              </a:rPr>
              <a:t>Directivas CIS a nivel de sistema operativo para neutralizar vectores de escalada de privilegios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212080" cy="2103120"/>
          </a:xfrm>
          <a:prstGeom prst="roundRect">
            <a:avLst/>
          </a:prstGeom>
          <a:solidFill>
            <a:srgbClr val="1015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⚡ Parámetros del Kernel (sysctl.conf)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net.ipv4.tcp_syncookies = 1 (Mitigación total contra ataques SYN Flood).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net.ipv4.conf.all.accept_redirects = 0 (Bloqueo de alteración de rutas ICMP).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kernel.randomize_va_space = 2 (ASLR al máximo nivel para protección de memoria).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vm.swappiness = 1 (Previene fuga de datos en memoria swap de disco).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📁 Permisos Restrictivos en Almacenamiento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Directorio $PGDATA fijado en chmod 0700 (u=rwx,g=,o=).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Propietario forzado: chown -R postgres:postgres /var/lib/postgresql/data.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Archivos de configuración protegidos con permisos 0600.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Exclusión total de usuarios locales no autorizados.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📦 Sandboxing Nativo con Systemd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ProtectSystem=strict (Sistema de archivos montado en sólo lectura para el servicio).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ProtectHome=true (Bloqueo total de acceso a directorios de usuarios del SO).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NoNewPrivileges=true (Impide elevación de privilegios vía binarios SUID).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PrivateTmp=true (Aislamiento de archivos temporales en espacio de nombres propio).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1015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70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🔒 Cifrado de Almacenamiento en Reposo (LUKS2)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Partición /var/lib/postgresql montada sobre volumen LUKS2 dm-crypt.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Algoritmo criptográfico: AES-XTS-PLAIN64 con llave de 512 bits.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Protección efectiva contra robo o volcado no autorizado de imágenes de disco.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572000" cy="32004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● FASE 2 // COMUNICACIONES SEGURAS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Consolas"/>
              </a:rPr>
              <a:t>SLIDE 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Criptografía en Tránsito con TLS 1.3 Mandatorio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rial"/>
              </a:rPr>
              <a:t>Erradicación del tráfico en texto plano y blindaje de las transmisiones de 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212080" cy="2103120"/>
          </a:xfrm>
          <a:prstGeom prst="roundRect">
            <a:avLst/>
          </a:prstGeom>
          <a:solidFill>
            <a:srgbClr val="1015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🔐 Requisito Mandatorio TLS 1.3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ssl = on (Activación forzosa del cifrado en toda conexión TCP).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ssl_min_protocol_version = 'TLSv1.3' (Deprecación de TLS 1.0, 1.1 y 1.2).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Resistencia contra ataques de degradación de protocolo (Downgrade Attacks).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Cero tráfico en texto claro permitido en la infraestructura corporativa.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🛡️ Suites Criptográficas Robustas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ssl_ciphers = 'ECDHE-ECDSA-AES256-GCM-SHA384:ECDHE-RSA-AES256-GCM-SHA384'.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Forzado de Perfect Forward Secrecy (PFS) mediante curvas elípticas Diffie-Hellman.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Cifrado autenticado AEAD (GCM) inmune a ataques de padding de bloques.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📜 Gestión de Certificados X.509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Claves privadas generadas con RSA 4096 bits o curvas elípticas Ed25519.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Permisos del archivo de clave privada restringidos estrictamente a chmod 0600.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Propietario de certificados fijado en postgres:postgres.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Integración con PKI interna corporativa y renovación programada.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1015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70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🚀 Beneficios de Seguridad Obtenidos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Confidencialidad total en el transporte de queries y resultados.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Neutralización garantizada contra intercepción de paquetes y MitM.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Cumplimiento directo con PCI-DSS v4.0 Requisito 3 y 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572000" cy="32004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● FASE 3 // CORTAFUEGOS Y CONTROL PERIMETRAL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Consolas"/>
              </a:rPr>
              <a:t>SLIDE 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Autenticación SCRAM-SHA-256 &amp; Firewall pg_hba.conf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rial"/>
              </a:rPr>
              <a:t>Filtrado estricto por subred y erradicación de hashes débiles bajo política Zero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212080" cy="2103120"/>
          </a:xfrm>
          <a:prstGeom prst="roundRect">
            <a:avLst/>
          </a:prstGeom>
          <a:solidFill>
            <a:srgbClr val="1015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🔑 SCRAM-SHA-256 vs Métodos Heredados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Erradicación absoluta de 'trust' (sin clave), 'password' (plano) y 'md5' (obsoleto).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Mecanismo desafío-respuesta criptográfico con salt aleatorio de 32 bytes.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4096 iteraciones HMAC que neutralizan ataques de fuerza bruta y Rainbow Tables.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El servidor nunca almacena la contraseña original del usuario.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🧱 Política de Cortafuegos en pg_hba.conf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local all postgres peer (Superusuario limitado estrictamente a socket local).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hostssl app_production app_user 10.0.50.0/24 scram-sha-256 (Red segmentada).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host all all 0.0.0.0/0 reject (Denegación explícita de cualquier conexión externa).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Prohibición absoluta de acceso TCP al usuario 'postgres'.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🛡️ Segmentación de Red y Acceso de Mínimo Privilegio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Solo las subredes autorizadas de servidores de aplicación tienen ruta hacia el puerto 5432.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Aislamiento entre entorno de Producción, Staging y Desarrollo.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Bloqueo a nivel de iptables/ufw complementario al motor.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1015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70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⚠️ Regla de Oro Implementada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Ningún superusuario puede autenticarse vía red remota.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Toda operación administrativa requiere sesión autenticada con llave SSH y peer socket.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Reducción a CERO de ataques de fuerza bruta remotos sobre la cuenta root de BD.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572000" cy="32004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● FASE 4 // SEGREGACIÓN LÓGICA Y PRIVILEGIOS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Consolas"/>
              </a:rPr>
              <a:t>SLIDE 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Gestión de Roles RBAC y Saneamiento de Esquema 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rial"/>
              </a:rPr>
              <a:t>Aplicación del principio de menor privilegio sobre los objetos y funciones de la base de datos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212080" cy="2103120"/>
          </a:xfrm>
          <a:prstGeom prst="roundRect">
            <a:avLst/>
          </a:prstGeom>
          <a:solidFill>
            <a:srgbClr val="1015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🚫 Saneamiento del Esquema 'Public' (CIS 5.1)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REVOKE CREATE ON SCHEMA public FROM PUBLIC; (Elimina riesgo histórico de polución).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REVOKE ALL ON DATABASE app_prod FROM PUBLIC; (Cierre de accesos implícitos).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Bloqueo de funciones de lectura de archivos del SO: pg_read_file, pg_ls_dir.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Prevención contra inyección de funciones maliciosas en schemas compartidos.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👥 Matriz de Roles Segregados (RBAC)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role_readonly: USAGE en esquema + SELECT exclusivo en tablas.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role_readwrite: SELECT, INSERT, UPDATE, DELETE para backend aplicativo.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role_security_auditor: pg_read_all_settings y pg_read_all_stats para monitoreo.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Todos los roles grupales creados con NOLOGIN para evitar suplantación.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🛡️ Seguridad a Nivel de Fila (Row-Level Security)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Activación de ALTER TABLE ... ENABLE ROW LEVEL SECURITY.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Filtrado automático de registros por identidad de inquilino (Tenant Isolation).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Los usuarios solo pueden consultar registros que coincidan con su contexto autorizado.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1015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70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📋 Cumplimiento de Políticas de Contraseñas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Longitud mínima de 16 caracteres alfanuméricos con entropía alta.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Extensión passwordcheck para validar complejidad y evitar palabras de diccionario.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Políticas de caducidad y rotación cada 90 días.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572000" cy="32004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● FASE 5 // TRAZABILIDAD Y MONITOREO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Consolas"/>
              </a:rPr>
              <a:t>SLIDE 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Auditoría Forense con pgaudit &amp; Centralización de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rial"/>
              </a:rPr>
              <a:t>Registro inmutable y estructurado de operaciones críticas para cumplir PCI-DSS y SOC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212080" cy="2103120"/>
          </a:xfrm>
          <a:prstGeom prst="roundRect">
            <a:avLst/>
          </a:prstGeom>
          <a:solidFill>
            <a:srgbClr val="1015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🔍 Auditoría Granular con Extensión 'pgaudit'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shared_preload_libraries = 'pgaudit' cargada en memoria compartida.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pgaudit.log = 'ddl, role, write, misc' (Captura sentencias DDL, roles y escrituras).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pgaudit.log_parameter = on (Registra los parámetros exactos de las sentencias ejecutadas).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Generación de pistas de auditoría forense con valor probatorio legal.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📝 Parámetros del Motor de Logging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logging_collector = on con directorio dedicado /var/log/postgresql.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log_file_mode = 0600 (Permisos de lectura exclusivos para usuario postgres).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Rotación diaria automática (log_rotation_age = 1d) y por tamaño (100MB).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log_connections = on y log_disconnections = on para trazar sesiones completas.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⏱️ Detección de Anomalías y Queries Lentas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log_min_duration_statement = 250 (Alerta sobre consultas lentas &gt; 250ms).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Detección oportuna de ataques de DoS por saturación de queries ineficientes.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Prefijo estructurado: %m [%p] %q%u@%d app=%a (Timestamp, PID, usuario, base, app).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1015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70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🌐 Centralización SIEM Inmutable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Envío continuo de logs hacia cluster Wazuh / Elastic mediante canal seguro TLS.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Almacenamiento en repositorio inmutable WORM con retención mínima de 365 días.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Alertas en tiempo real ante intentos repetidos de autenticación fallida.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572000" cy="32004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● EVALUACIÓN CUANTITATIVA // POSTURA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11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Consolas"/>
              </a:rPr>
              <a:t>SLIDE 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Resultados de Auditoría CIS y Conclusiones Ejecutivas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  <a:latin typeface="Arial"/>
              </a:rPr>
              <a:t>Balance comparativo pre y post hardening, métricas de éxito y ciclo continuo DevSecOps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212080" cy="2103120"/>
          </a:xfrm>
          <a:prstGeom prst="roundRect">
            <a:avLst/>
          </a:prstGeom>
          <a:solidFill>
            <a:srgbClr val="1015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📈 Matriz de Cumplimiento CIS Benchmark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CIS 1 (Instalación &amp; Paquetes): 100% Aprobado (PGDG Oficial).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CIS 2 (Permisos SO &amp; Systemd): 100% Aprobado (0700 &amp; Sandbox).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CIS 3 (Autenticación &amp; Red): 100% Aprobado (SCRAM &amp; CIDR).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CIS 4 (Criptografía TLS): 100% Aprobado (TLS 1.3 / ECDHE).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CIS 5 (Gestión de Roles): 100% Aprobado (Public revocado &amp; RBAC).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CIS 6 (Auditoría Forense): 98% Aprobado (pgaudit &amp; SIEM).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12080" cy="2103120"/>
          </a:xfrm>
          <a:prstGeom prst="roundRect">
            <a:avLst/>
          </a:prstGeom>
          <a:solidFill>
            <a:srgbClr val="1015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rial"/>
              </a:rPr>
              <a:t>🎯 Métricas Clave de Rendimiento de Seguridad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Score CIS Inicial (Vanilla): 34.2%  ➡️  Score Post-Hardening: 98.4%.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Reducción de la Superficie de Ataque: -89%.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Hallazgos Críticos Abiertos: 0 (Cero vulnerabilidades de nivel alto o crítico).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Estado del Despliegue: Aprobado para Producción Corporativa.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💡 Conclusiones Técnicas Principales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La seguridad de base de datos no es una opción de configuración aislada, sino una arquitectura en profundidad.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La combinación TLS 1.3 + SCRAM-SHA-256 anula de forma definitiva los riesgos de intercepción en red.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La remoción de permisos públicos y el sandboxing mitigan el impacto de exploits zero-day.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101524"/>
          </a:solidFill>
          <a:ln w="12700">
            <a:solidFill>
              <a:srgbClr val="23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7083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🔄 Recomendaciones de Mantenimiento Continuo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Incorporar escaneo de configuración en pipeline CI/CD con pgtoolkit y Lynis.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Rotación automatizada de certificados TLS cada 90 días.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Simulacros semestrales de restauración de backups inmutables (Disaster Recovery).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